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0:00 - 0:15 | 24 Words on Slide]</a:t>
            </a:r>
          </a:p>
          <a:p>
            <a:r>
              <a:t>"Judges, every year $13 trillion is spent on public infrastructure, yet bid rigging and database tampering steal up to 25% of that capital. BidTrace eliminates bid rigging with cryptographic sealed bidding on Solana, turning administrative trust into mathematical certainty."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0:15 - 0:35 | 38 Words on Slide]</a:t>
            </a:r>
          </a:p>
          <a:p>
            <a:r>
              <a:t>"The fatal flaw in procurement isn't bad people—it's a window of time. Between the submission deadline and bid opening, database admins have unmonitored root access to peek at competitor pricing, alter scores, and backdate bids in MySQL. Traditional audits fail because centralized databases produce zero mathematical proof."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0:35 - 0:55 | 37 Words on Slide]</a:t>
            </a:r>
          </a:p>
          <a:p>
            <a:r>
              <a:t>"BidTrace is Chainlink meets sealed envelopes for sovereign infrastructure. We don't just store hashes; Solana's 400-millisecond Proof of History turns time into an unalterable physical law: if a slot expires, code rejects entry forever. Dual envelopes guarantee commercial secrecy, while our on-chain trimmed mean prunes collusive scores."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0:55 - 1:15 | 36 Words on Slide]</a:t>
            </a:r>
          </a:p>
          <a:p>
            <a:r>
              <a:t>"The macro tailwind is massive: the World Bank and UN now mandate OCDS 1.1 open data standards to stop systemic fraud. Our bottoms-up beachhead is the $500 billion in development bank tenders. The dream state is clear: incorruptible sovereign capital where kickbacks are cryptographically eliminated."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1:15 - 1:35 | 38 Words on Slide]</a:t>
            </a:r>
          </a:p>
          <a:p>
            <a:r>
              <a:t>"This is already working live today. We have 10 Anchor Rust instructions deployed on Solana Devnet and 78 passing unit tests. Crucially, unlike naive auction schemes where one rogue bidder can freeze opening, our independent leaf architecture and on-chain bond slashing ensure compliant contractors unseal cleanly with zero deadlock."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1:35 - 1:50 | 39 Words on Slide]</a:t>
            </a:r>
          </a:p>
          <a:p>
            <a:r>
              <a:t>"Why will this keep working? We monetize through a 0.05% take-rate on awarded contracts plus surety underwriting fees. Our moat is distribution: contractors pay zero crypto gas, and each onboarded government locks hundreds of contractors into our verification rail, creating an irreversible compliance standard."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1:50 - 2:00 | 39 Words on Slide]</a:t>
            </a:r>
          </a:p>
          <a:p>
            <a:r>
              <a:t>"We are uniquely built for this problem—combining deep expertise in Solana Anchor engineering, World Bank OCDS standards, and institutional compliance. We give contractors independent cryptographic receipts that hold up in legal tribunals. We built BidTrace to make public infrastructure incorruptible.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1097280" y="1371600"/>
            <a:ext cx="1645920" cy="1857820"/>
          </a:xfrm>
          <a:prstGeom prst="rect">
            <a:avLst/>
          </a:prstGeom>
        </p:spPr>
      </p:pic>
      <p:sp>
        <p:nvSpPr>
          <p:cNvPr id="4" name="Rounded Rectangle 3"/>
          <p:cNvSpPr/>
          <p:nvPr/>
        </p:nvSpPr>
        <p:spPr>
          <a:xfrm>
            <a:off x="3017520" y="1417320"/>
            <a:ext cx="3840480" cy="384048"/>
          </a:xfrm>
          <a:prstGeom prst="roundRect">
            <a:avLst/>
          </a:prstGeom>
          <a:solidFill>
            <a:srgbClr val="102037"/>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B6D4"/>
                </a:solidFill>
              </a:defRPr>
            </a:pPr>
            <a:r>
              <a:t>COLOSSEUM CRYPTO WORLD'S FAIR 2026</a:t>
            </a:r>
          </a:p>
        </p:txBody>
      </p:sp>
      <p:sp>
        <p:nvSpPr>
          <p:cNvPr id="5" name="TextBox 4"/>
          <p:cNvSpPr txBox="1"/>
          <p:nvPr/>
        </p:nvSpPr>
        <p:spPr>
          <a:xfrm>
            <a:off x="2926080" y="1874519"/>
            <a:ext cx="8229600" cy="1097280"/>
          </a:xfrm>
          <a:prstGeom prst="rect">
            <a:avLst/>
          </a:prstGeom>
          <a:noFill/>
        </p:spPr>
        <p:txBody>
          <a:bodyPr wrap="none">
            <a:spAutoFit/>
          </a:bodyPr>
          <a:lstStyle/>
          <a:p>
            <a:pPr>
              <a:defRPr sz="5600" b="1">
                <a:solidFill>
                  <a:srgbClr val="FFFFFF"/>
                </a:solidFill>
              </a:defRPr>
            </a:pPr>
            <a:r>
              <a:t>BidTrace</a:t>
            </a:r>
          </a:p>
        </p:txBody>
      </p:sp>
      <p:sp>
        <p:nvSpPr>
          <p:cNvPr id="6" name="TextBox 5"/>
          <p:cNvSpPr txBox="1"/>
          <p:nvPr/>
        </p:nvSpPr>
        <p:spPr>
          <a:xfrm>
            <a:off x="1097280" y="3154680"/>
            <a:ext cx="10058400" cy="1371600"/>
          </a:xfrm>
          <a:prstGeom prst="rect">
            <a:avLst/>
          </a:prstGeom>
          <a:noFill/>
        </p:spPr>
        <p:txBody>
          <a:bodyPr wrap="square">
            <a:spAutoFit/>
          </a:bodyPr>
          <a:lstStyle/>
          <a:p>
            <a:pPr>
              <a:defRPr sz="3600" b="1">
                <a:solidFill>
                  <a:srgbClr val="06B6D4"/>
                </a:solidFill>
              </a:defRPr>
            </a:pPr>
            <a:r>
              <a:t>No More Bid Rigging.</a:t>
            </a:r>
          </a:p>
          <a:p>
            <a:pPr>
              <a:defRPr sz="1800">
                <a:solidFill>
                  <a:srgbClr val="94A3B8"/>
                </a:solidFill>
              </a:defRPr>
            </a:pPr>
            <a:r>
              <a:t>Cryptographic sealed bidding for public infrastructure contracts.</a:t>
            </a:r>
          </a:p>
        </p:txBody>
      </p:sp>
      <p:sp>
        <p:nvSpPr>
          <p:cNvPr id="7" name="Rounded Rectangle 6"/>
          <p:cNvSpPr/>
          <p:nvPr/>
        </p:nvSpPr>
        <p:spPr>
          <a:xfrm>
            <a:off x="1097280"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892040"/>
            <a:ext cx="2834640" cy="1097280"/>
          </a:xfrm>
          <a:prstGeom prst="rect">
            <a:avLst/>
          </a:prstGeom>
          <a:noFill/>
        </p:spPr>
        <p:txBody>
          <a:bodyPr wrap="none">
            <a:spAutoFit/>
          </a:bodyPr>
          <a:lstStyle/>
          <a:p>
            <a:pPr>
              <a:defRPr sz="2600" b="1">
                <a:solidFill>
                  <a:srgbClr val="06B6D4"/>
                </a:solidFill>
              </a:defRPr>
            </a:pPr>
            <a:r>
              <a:t>$13.0 Trillion</a:t>
            </a:r>
          </a:p>
          <a:p>
            <a:pPr>
              <a:defRPr sz="1300">
                <a:solidFill>
                  <a:srgbClr val="94A3B8"/>
                </a:solidFill>
              </a:defRPr>
            </a:pPr>
            <a:r>
              <a:t>Annual Sovereign Spend</a:t>
            </a:r>
          </a:p>
        </p:txBody>
      </p:sp>
      <p:sp>
        <p:nvSpPr>
          <p:cNvPr id="9" name="Rounded Rectangle 8"/>
          <p:cNvSpPr/>
          <p:nvPr/>
        </p:nvSpPr>
        <p:spPr>
          <a:xfrm>
            <a:off x="4526280"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4892040"/>
            <a:ext cx="2834640" cy="1097280"/>
          </a:xfrm>
          <a:prstGeom prst="rect">
            <a:avLst/>
          </a:prstGeom>
          <a:noFill/>
        </p:spPr>
        <p:txBody>
          <a:bodyPr wrap="none">
            <a:spAutoFit/>
          </a:bodyPr>
          <a:lstStyle/>
          <a:p>
            <a:pPr>
              <a:defRPr sz="2600" b="1">
                <a:solidFill>
                  <a:srgbClr val="A855F7"/>
                </a:solidFill>
              </a:defRPr>
            </a:pPr>
            <a:r>
              <a:t>400ms Clock</a:t>
            </a:r>
          </a:p>
          <a:p>
            <a:pPr>
              <a:defRPr sz="1300">
                <a:solidFill>
                  <a:srgbClr val="94A3B8"/>
                </a:solidFill>
              </a:defRPr>
            </a:pPr>
            <a:r>
              <a:t>Proof of History Precision</a:t>
            </a:r>
          </a:p>
        </p:txBody>
      </p:sp>
      <p:sp>
        <p:nvSpPr>
          <p:cNvPr id="11" name="Rounded Rectangle 10"/>
          <p:cNvSpPr/>
          <p:nvPr/>
        </p:nvSpPr>
        <p:spPr>
          <a:xfrm>
            <a:off x="7955279"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9" y="4892040"/>
            <a:ext cx="2834640" cy="1097280"/>
          </a:xfrm>
          <a:prstGeom prst="rect">
            <a:avLst/>
          </a:prstGeom>
          <a:noFill/>
        </p:spPr>
        <p:txBody>
          <a:bodyPr wrap="none">
            <a:spAutoFit/>
          </a:bodyPr>
          <a:lstStyle/>
          <a:p>
            <a:pPr>
              <a:defRPr sz="2600" b="1">
                <a:solidFill>
                  <a:srgbClr val="10B981"/>
                </a:solidFill>
              </a:defRPr>
            </a:pPr>
            <a:r>
              <a:t>Zero Crypto Gas</a:t>
            </a:r>
          </a:p>
          <a:p>
            <a:pPr>
              <a:defRPr sz="1300">
                <a:solidFill>
                  <a:srgbClr val="94A3B8"/>
                </a:solidFill>
              </a:defRPr>
            </a:pPr>
            <a:r>
              <a:t>Enterprise Relayer Sponsored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F43F5E"/>
                </a:solidFill>
              </a:defRPr>
            </a:pPr>
            <a:r>
              <a:t>THE $13 TRILLION CRITICAL FLAW</a:t>
            </a:r>
          </a:p>
          <a:p>
            <a:pPr>
              <a:defRPr sz="3400" b="1">
                <a:solidFill>
                  <a:srgbClr val="FFFFFF"/>
                </a:solidFill>
              </a:defRPr>
            </a:pPr>
            <a:r>
              <a:t>The Post-Deadline Insider Tampering Window</a:t>
            </a:r>
          </a:p>
        </p:txBody>
      </p:sp>
      <p:sp>
        <p:nvSpPr>
          <p:cNvPr id="4" name="Rounded Rectangle 3"/>
          <p:cNvSpPr/>
          <p:nvPr/>
        </p:nvSpPr>
        <p:spPr>
          <a:xfrm>
            <a:off x="914400" y="1737360"/>
            <a:ext cx="4937760" cy="4389120"/>
          </a:xfrm>
          <a:prstGeom prst="roundRect">
            <a:avLst/>
          </a:prstGeom>
          <a:solidFill>
            <a:srgbClr val="12192D"/>
          </a:solidFill>
          <a:ln w="19050">
            <a:solidFill>
              <a:srgbClr val="5014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389120" cy="3840480"/>
          </a:xfrm>
          <a:prstGeom prst="rect">
            <a:avLst/>
          </a:prstGeom>
          <a:noFill/>
        </p:spPr>
        <p:txBody>
          <a:bodyPr wrap="square">
            <a:spAutoFit/>
          </a:bodyPr>
          <a:lstStyle/>
          <a:p>
            <a:pPr>
              <a:defRPr sz="3600" b="1">
                <a:solidFill>
                  <a:srgbClr val="F43F5E"/>
                </a:solidFill>
              </a:defRPr>
            </a:pPr>
            <a:r>
              <a:t>$13 Trillion / Year</a:t>
            </a:r>
          </a:p>
          <a:p>
            <a:pPr>
              <a:defRPr sz="1600" b="1">
                <a:solidFill>
                  <a:srgbClr val="FFFFFF"/>
                </a:solidFill>
              </a:defRPr>
            </a:pPr>
            <a:r>
              <a:t>15% of Global GDP Vulnerable to Insider DBA Access</a:t>
            </a:r>
          </a:p>
          <a:p>
            <a:br/>
            <a:pPr>
              <a:defRPr sz="1400">
                <a:solidFill>
                  <a:srgbClr val="94A3B8"/>
                </a:solidFill>
              </a:defRPr>
            </a:pPr>
            <a:r>
              <a:t>• Database admins hold MySQL root keys.</a:t>
            </a:r>
            <a:br/>
            <a:r>
              <a:t>• Late bids quietly backdated before opening.</a:t>
            </a:r>
            <a:br/>
            <a:r>
              <a:t>• Unencrypted prices leaked to favored bidders.</a:t>
            </a:r>
          </a:p>
        </p:txBody>
      </p:sp>
      <p:sp>
        <p:nvSpPr>
          <p:cNvPr id="6" name="Rounded Rectangle 5"/>
          <p:cNvSpPr/>
          <p:nvPr/>
        </p:nvSpPr>
        <p:spPr>
          <a:xfrm>
            <a:off x="6217920" y="1737360"/>
            <a:ext cx="5029200" cy="438912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480560" cy="3840480"/>
          </a:xfrm>
          <a:prstGeom prst="rect">
            <a:avLst/>
          </a:prstGeom>
          <a:noFill/>
        </p:spPr>
        <p:txBody>
          <a:bodyPr wrap="square">
            <a:spAutoFit/>
          </a:bodyPr>
          <a:lstStyle/>
          <a:p>
            <a:pPr>
              <a:defRPr sz="3600" b="1">
                <a:solidFill>
                  <a:srgbClr val="06B6D4"/>
                </a:solidFill>
              </a:defRPr>
            </a:pPr>
            <a:r>
              <a:t>Zero Math Proof</a:t>
            </a:r>
          </a:p>
          <a:p>
            <a:pPr>
              <a:defRPr sz="1600" b="1">
                <a:solidFill>
                  <a:srgbClr val="FFFFFF"/>
                </a:solidFill>
              </a:defRPr>
            </a:pPr>
            <a:r>
              <a:t>Centralized Trust Fails Daily in E-Procurement</a:t>
            </a:r>
          </a:p>
          <a:p>
            <a:br/>
            <a:pPr>
              <a:defRPr sz="1400">
                <a:solidFill>
                  <a:srgbClr val="94A3B8"/>
                </a:solidFill>
              </a:defRPr>
            </a:pPr>
            <a:r>
              <a:t>• Server timestamps rewritten in seconds.</a:t>
            </a:r>
            <a:br/>
            <a:r>
              <a:t>• Rogue evaluator scores inflated behind closed doors.</a:t>
            </a:r>
            <a:br/>
            <a:r>
              <a:t>• Admins claim: 'That is what our database recorded.'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06B6D4"/>
                </a:solidFill>
              </a:defRPr>
            </a:pPr>
            <a:r>
              <a:t>THE HERO MECHANISM</a:t>
            </a:r>
          </a:p>
          <a:p>
            <a:pPr>
              <a:defRPr sz="3200" b="1">
                <a:solidFill>
                  <a:srgbClr val="FFFFFF"/>
                </a:solidFill>
              </a:defRPr>
            </a:pPr>
            <a:r>
              <a:t>“Chainlink + Sealed Envelopes for Sovereign Capital”</a:t>
            </a:r>
          </a:p>
        </p:txBody>
      </p:sp>
      <p:sp>
        <p:nvSpPr>
          <p:cNvPr id="4" name="Rounded Rectangle 3"/>
          <p:cNvSpPr/>
          <p:nvPr/>
        </p:nvSpPr>
        <p:spPr>
          <a:xfrm>
            <a:off x="914400"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2926080" cy="3840480"/>
          </a:xfrm>
          <a:prstGeom prst="rect">
            <a:avLst/>
          </a:prstGeom>
          <a:noFill/>
        </p:spPr>
        <p:txBody>
          <a:bodyPr wrap="square">
            <a:spAutoFit/>
          </a:bodyPr>
          <a:lstStyle/>
          <a:p>
            <a:pPr>
              <a:defRPr sz="1800" b="1">
                <a:solidFill>
                  <a:srgbClr val="06B6D4"/>
                </a:solidFill>
              </a:defRPr>
            </a:pPr>
            <a:r>
              <a:t>Dual-Envelope Sealing</a:t>
            </a:r>
          </a:p>
          <a:p>
            <a:pPr>
              <a:defRPr sz="1200" b="1">
                <a:solidFill>
                  <a:srgbClr val="94A3B8"/>
                </a:solidFill>
              </a:defRPr>
            </a:pPr>
            <a:r>
              <a:t>OCDS 1.1 Cryptographic Hash</a:t>
            </a:r>
          </a:p>
          <a:p>
            <a:br/>
            <a:pPr>
              <a:defRPr sz="1400">
                <a:solidFill>
                  <a:srgbClr val="FFFFFF"/>
                </a:solidFill>
              </a:defRPr>
            </a:pPr>
            <a:r>
              <a:t>Blinded technical &amp; financial commitments via RFC 8785 standard. Zero pre-deadline leakage.</a:t>
            </a:r>
          </a:p>
        </p:txBody>
      </p:sp>
      <p:sp>
        <p:nvSpPr>
          <p:cNvPr id="6" name="Rounded Rectangle 5"/>
          <p:cNvSpPr/>
          <p:nvPr/>
        </p:nvSpPr>
        <p:spPr>
          <a:xfrm>
            <a:off x="4434840"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2011680"/>
            <a:ext cx="2926080" cy="3840480"/>
          </a:xfrm>
          <a:prstGeom prst="rect">
            <a:avLst/>
          </a:prstGeom>
          <a:noFill/>
        </p:spPr>
        <p:txBody>
          <a:bodyPr wrap="square">
            <a:spAutoFit/>
          </a:bodyPr>
          <a:lstStyle/>
          <a:p>
            <a:pPr>
              <a:defRPr sz="1800" b="1">
                <a:solidFill>
                  <a:srgbClr val="A855F7"/>
                </a:solidFill>
              </a:defRPr>
            </a:pPr>
            <a:r>
              <a:t>Proof of History Clock</a:t>
            </a:r>
          </a:p>
          <a:p>
            <a:pPr>
              <a:defRPr sz="1200" b="1">
                <a:solidFill>
                  <a:srgbClr val="94A3B8"/>
                </a:solidFill>
              </a:defRPr>
            </a:pPr>
            <a:r>
              <a:t>Physical Consensus Boundary</a:t>
            </a:r>
          </a:p>
          <a:p>
            <a:br/>
            <a:pPr>
              <a:defRPr sz="1400">
                <a:solidFill>
                  <a:srgbClr val="FFFFFF"/>
                </a:solidFill>
              </a:defRPr>
            </a:pPr>
            <a:r>
              <a:t>Solana 400ms clock makes post-deadline tampering physically impossible. Expired slots rejected.</a:t>
            </a:r>
          </a:p>
        </p:txBody>
      </p:sp>
      <p:sp>
        <p:nvSpPr>
          <p:cNvPr id="8" name="Rounded Rectangle 7"/>
          <p:cNvSpPr/>
          <p:nvPr/>
        </p:nvSpPr>
        <p:spPr>
          <a:xfrm>
            <a:off x="7955279"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59" y="2011680"/>
            <a:ext cx="2926080" cy="3840480"/>
          </a:xfrm>
          <a:prstGeom prst="rect">
            <a:avLst/>
          </a:prstGeom>
          <a:noFill/>
        </p:spPr>
        <p:txBody>
          <a:bodyPr wrap="square">
            <a:spAutoFit/>
          </a:bodyPr>
          <a:lstStyle/>
          <a:p>
            <a:pPr>
              <a:defRPr sz="1800" b="1">
                <a:solidFill>
                  <a:srgbClr val="10B981"/>
                </a:solidFill>
              </a:defRPr>
            </a:pPr>
            <a:r>
              <a:t>Blinded Outlier Pruning</a:t>
            </a:r>
          </a:p>
          <a:p>
            <a:pPr>
              <a:defRPr sz="1200" b="1">
                <a:solidFill>
                  <a:srgbClr val="94A3B8"/>
                </a:solidFill>
              </a:defRPr>
            </a:pPr>
            <a:r>
              <a:t>Olympic Trimmed Mean</a:t>
            </a:r>
          </a:p>
          <a:p>
            <a:br/>
            <a:pPr>
              <a:defRPr sz="1400">
                <a:solidFill>
                  <a:srgbClr val="FFFFFF"/>
                </a:solidFill>
              </a:defRPr>
            </a:pPr>
            <a:r>
              <a:t>On-chain algorithm auto-prunes collusive evaluator scores before financial unsealing.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A855F7"/>
                </a:solidFill>
              </a:defRPr>
            </a:pPr>
            <a:r>
              <a:t>MACRO SHIFT &amp; BOTTOMS-UP BEACHHEAD</a:t>
            </a:r>
          </a:p>
          <a:p>
            <a:pPr>
              <a:defRPr sz="3400" b="1">
                <a:solidFill>
                  <a:srgbClr val="FFFFFF"/>
                </a:solidFill>
              </a:defRPr>
            </a:pPr>
            <a:r>
              <a:t>From Administrative Paper to Incorruptible Rails</a:t>
            </a:r>
          </a:p>
        </p:txBody>
      </p:sp>
      <p:sp>
        <p:nvSpPr>
          <p:cNvPr id="4" name="Rounded Rectangle 3"/>
          <p:cNvSpPr/>
          <p:nvPr/>
        </p:nvSpPr>
        <p:spPr>
          <a:xfrm>
            <a:off x="914400" y="1737360"/>
            <a:ext cx="51206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572000" cy="3840480"/>
          </a:xfrm>
          <a:prstGeom prst="rect">
            <a:avLst/>
          </a:prstGeom>
          <a:noFill/>
        </p:spPr>
        <p:txBody>
          <a:bodyPr wrap="square">
            <a:spAutoFit/>
          </a:bodyPr>
          <a:lstStyle/>
          <a:p>
            <a:pPr>
              <a:defRPr sz="1800" b="1">
                <a:solidFill>
                  <a:srgbClr val="06B6D4"/>
                </a:solidFill>
              </a:defRPr>
            </a:pPr>
            <a:r>
              <a:t>Macro Tailwinds &amp; Dream State</a:t>
            </a:r>
          </a:p>
          <a:p>
            <a:br/>
            <a:pPr>
              <a:defRPr sz="1400">
                <a:solidFill>
                  <a:srgbClr val="FFFFFF"/>
                </a:solidFill>
              </a:defRPr>
            </a:pPr>
            <a:r>
              <a:t>• World Bank Mandate: Enforces OCDS 1.1 anti-corruption standard across all projects.</a:t>
            </a:r>
            <a:br/>
            <a:r>
              <a:t>• TradFi Shift: $500B in multilateral tenders migrating on-chain.</a:t>
            </a:r>
            <a:br/>
            <a:r>
              <a:t>• Dream State: Incorruptible sovereign infrastructure with zero kickback windows.</a:t>
            </a:r>
          </a:p>
        </p:txBody>
      </p:sp>
      <p:sp>
        <p:nvSpPr>
          <p:cNvPr id="6" name="Rounded Rectangle 5"/>
          <p:cNvSpPr/>
          <p:nvPr/>
        </p:nvSpPr>
        <p:spPr>
          <a:xfrm>
            <a:off x="6400800" y="1737360"/>
            <a:ext cx="4846320" cy="205740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920240"/>
            <a:ext cx="4297680" cy="1737360"/>
          </a:xfrm>
          <a:prstGeom prst="rect">
            <a:avLst/>
          </a:prstGeom>
          <a:noFill/>
        </p:spPr>
        <p:txBody>
          <a:bodyPr wrap="square">
            <a:spAutoFit/>
          </a:bodyPr>
          <a:lstStyle/>
          <a:p>
            <a:pPr>
              <a:defRPr sz="3000" b="1">
                <a:solidFill>
                  <a:srgbClr val="06B6D4"/>
                </a:solidFill>
              </a:defRPr>
            </a:pPr>
            <a:r>
              <a:t>$500 Billion SAM</a:t>
            </a:r>
          </a:p>
          <a:p>
            <a:pPr>
              <a:defRPr sz="1300">
                <a:solidFill>
                  <a:srgbClr val="94A3B8"/>
                </a:solidFill>
              </a:defRPr>
            </a:pPr>
            <a:r>
              <a:t>Multilateral Development Bank Tenders (Immediate Beachhead)</a:t>
            </a:r>
          </a:p>
        </p:txBody>
      </p:sp>
      <p:sp>
        <p:nvSpPr>
          <p:cNvPr id="8" name="Rounded Rectangle 7"/>
          <p:cNvSpPr/>
          <p:nvPr/>
        </p:nvSpPr>
        <p:spPr>
          <a:xfrm>
            <a:off x="6400800" y="4069080"/>
            <a:ext cx="4846320" cy="2057400"/>
          </a:xfrm>
          <a:prstGeom prst="roundRect">
            <a:avLst/>
          </a:prstGeom>
          <a:solidFill>
            <a:srgbClr val="12192D"/>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4251960"/>
            <a:ext cx="4297680" cy="1737360"/>
          </a:xfrm>
          <a:prstGeom prst="rect">
            <a:avLst/>
          </a:prstGeom>
          <a:noFill/>
        </p:spPr>
        <p:txBody>
          <a:bodyPr wrap="square">
            <a:spAutoFit/>
          </a:bodyPr>
          <a:lstStyle/>
          <a:p>
            <a:pPr>
              <a:defRPr sz="3000" b="1">
                <a:solidFill>
                  <a:srgbClr val="A855F7"/>
                </a:solidFill>
              </a:defRPr>
            </a:pPr>
            <a:r>
              <a:t>$13.0 Trillion TAM</a:t>
            </a:r>
          </a:p>
          <a:p>
            <a:pPr>
              <a:defRPr sz="1300">
                <a:solidFill>
                  <a:srgbClr val="94A3B8"/>
                </a:solidFill>
              </a:defRPr>
            </a:pPr>
            <a:r>
              <a:t>Total Annual Global Public Infrastructure Procurement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10B981"/>
                </a:solidFill>
              </a:defRPr>
            </a:pPr>
            <a:r>
              <a:t>TRACTION &amp; VERIFIED EXECUTION</a:t>
            </a:r>
          </a:p>
          <a:p>
            <a:pPr>
              <a:defRPr sz="3400" b="1">
                <a:solidFill>
                  <a:srgbClr val="FFFFFF"/>
                </a:solidFill>
              </a:defRPr>
            </a:pPr>
            <a:r>
              <a:t>“This Is Already Working Live on Solana”</a:t>
            </a:r>
          </a:p>
        </p:txBody>
      </p:sp>
      <p:sp>
        <p:nvSpPr>
          <p:cNvPr id="4" name="Rounded Rectangle 3"/>
          <p:cNvSpPr/>
          <p:nvPr/>
        </p:nvSpPr>
        <p:spPr>
          <a:xfrm>
            <a:off x="914400"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011680"/>
            <a:ext cx="2194560" cy="3840480"/>
          </a:xfrm>
          <a:prstGeom prst="rect">
            <a:avLst/>
          </a:prstGeom>
          <a:noFill/>
        </p:spPr>
        <p:txBody>
          <a:bodyPr wrap="square">
            <a:spAutoFit/>
          </a:bodyPr>
          <a:lstStyle/>
          <a:p>
            <a:pPr>
              <a:defRPr sz="3600" b="1">
                <a:solidFill>
                  <a:srgbClr val="06B6D4"/>
                </a:solidFill>
              </a:defRPr>
            </a:pPr>
            <a:r>
              <a:t>10</a:t>
            </a:r>
          </a:p>
          <a:p>
            <a:pPr>
              <a:defRPr sz="1600" b="1">
                <a:solidFill>
                  <a:srgbClr val="FFFFFF"/>
                </a:solidFill>
              </a:defRPr>
            </a:pPr>
            <a:r>
              <a:t>Anchor Instructions</a:t>
            </a:r>
          </a:p>
          <a:p>
            <a:br/>
            <a:pPr>
              <a:defRPr sz="1300">
                <a:solidFill>
                  <a:srgbClr val="94A3B8"/>
                </a:solidFill>
              </a:defRPr>
            </a:pPr>
            <a:r>
              <a:t>Deployed on Solana Devnet (x3iSm5BC...ESjZ)</a:t>
            </a:r>
          </a:p>
        </p:txBody>
      </p:sp>
      <p:sp>
        <p:nvSpPr>
          <p:cNvPr id="6" name="Rounded Rectangle 5"/>
          <p:cNvSpPr/>
          <p:nvPr/>
        </p:nvSpPr>
        <p:spPr>
          <a:xfrm>
            <a:off x="3547872"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5032" y="2011680"/>
            <a:ext cx="2194560" cy="3840480"/>
          </a:xfrm>
          <a:prstGeom prst="rect">
            <a:avLst/>
          </a:prstGeom>
          <a:noFill/>
        </p:spPr>
        <p:txBody>
          <a:bodyPr wrap="square">
            <a:spAutoFit/>
          </a:bodyPr>
          <a:lstStyle/>
          <a:p>
            <a:pPr>
              <a:defRPr sz="3600" b="1">
                <a:solidFill>
                  <a:srgbClr val="10B981"/>
                </a:solidFill>
              </a:defRPr>
            </a:pPr>
            <a:r>
              <a:t>78 / 78</a:t>
            </a:r>
          </a:p>
          <a:p>
            <a:pPr>
              <a:defRPr sz="1600" b="1">
                <a:solidFill>
                  <a:srgbClr val="FFFFFF"/>
                </a:solidFill>
              </a:defRPr>
            </a:pPr>
            <a:r>
              <a:t>Passing Unit Tests</a:t>
            </a:r>
          </a:p>
          <a:p>
            <a:br/>
            <a:pPr>
              <a:defRPr sz="1300">
                <a:solidFill>
                  <a:srgbClr val="94A3B8"/>
                </a:solidFill>
              </a:defRPr>
            </a:pPr>
            <a:r>
              <a:t>100% Cross-Language RFC 8785 Parity</a:t>
            </a:r>
          </a:p>
        </p:txBody>
      </p:sp>
      <p:sp>
        <p:nvSpPr>
          <p:cNvPr id="8" name="Rounded Rectangle 7"/>
          <p:cNvSpPr/>
          <p:nvPr/>
        </p:nvSpPr>
        <p:spPr>
          <a:xfrm>
            <a:off x="6181344"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2011680"/>
            <a:ext cx="2194560" cy="3840480"/>
          </a:xfrm>
          <a:prstGeom prst="rect">
            <a:avLst/>
          </a:prstGeom>
          <a:noFill/>
        </p:spPr>
        <p:txBody>
          <a:bodyPr wrap="square">
            <a:spAutoFit/>
          </a:bodyPr>
          <a:lstStyle/>
          <a:p>
            <a:pPr>
              <a:defRPr sz="3600" b="1">
                <a:solidFill>
                  <a:srgbClr val="F43F5E"/>
                </a:solidFill>
              </a:defRPr>
            </a:pPr>
            <a:r>
              <a:t>1-Click</a:t>
            </a:r>
          </a:p>
          <a:p>
            <a:pPr>
              <a:defRPr sz="1600" b="1">
                <a:solidFill>
                  <a:srgbClr val="FFFFFF"/>
                </a:solidFill>
              </a:defRPr>
            </a:pPr>
            <a:r>
              <a:t>Attack Simulator</a:t>
            </a:r>
          </a:p>
          <a:p>
            <a:br/>
            <a:pPr>
              <a:defRPr sz="1300">
                <a:solidFill>
                  <a:srgbClr val="94A3B8"/>
                </a:solidFill>
              </a:defRPr>
            </a:pPr>
            <a:r>
              <a:t>Live On-Chain Exploits Blocked in Real-Time</a:t>
            </a:r>
          </a:p>
        </p:txBody>
      </p:sp>
      <p:sp>
        <p:nvSpPr>
          <p:cNvPr id="10" name="Rounded Rectangle 9"/>
          <p:cNvSpPr/>
          <p:nvPr/>
        </p:nvSpPr>
        <p:spPr>
          <a:xfrm>
            <a:off x="8814816"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51976" y="2011680"/>
            <a:ext cx="2194560" cy="3840480"/>
          </a:xfrm>
          <a:prstGeom prst="rect">
            <a:avLst/>
          </a:prstGeom>
          <a:noFill/>
        </p:spPr>
        <p:txBody>
          <a:bodyPr wrap="square">
            <a:spAutoFit/>
          </a:bodyPr>
          <a:lstStyle/>
          <a:p>
            <a:pPr>
              <a:defRPr sz="3600" b="1">
                <a:solidFill>
                  <a:srgbClr val="A855F7"/>
                </a:solidFill>
              </a:defRPr>
            </a:pPr>
            <a:r>
              <a:t>0 Deadlock</a:t>
            </a:r>
          </a:p>
          <a:p>
            <a:pPr>
              <a:defRPr sz="1600" b="1">
                <a:solidFill>
                  <a:srgbClr val="FFFFFF"/>
                </a:solidFill>
              </a:defRPr>
            </a:pPr>
            <a:r>
              <a:t>Leaf State Machine</a:t>
            </a:r>
          </a:p>
          <a:p>
            <a:br/>
            <a:pPr>
              <a:defRPr sz="1300">
                <a:solidFill>
                  <a:srgbClr val="94A3B8"/>
                </a:solidFill>
              </a:defRPr>
            </a:pPr>
            <a:r>
              <a:t>Rogue bidder default cannot freeze compliant tenders.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06B6D4"/>
                </a:solidFill>
              </a:defRPr>
            </a:pPr>
            <a:r>
              <a:t>NETWORK EFFECTS &amp; SUSTAINABLE REVENUE</a:t>
            </a:r>
          </a:p>
          <a:p>
            <a:pPr>
              <a:defRPr sz="3400" b="1">
                <a:solidFill>
                  <a:srgbClr val="FFFFFF"/>
                </a:solidFill>
              </a:defRPr>
            </a:pPr>
            <a:r>
              <a:t>“Why This Keeps Growing: The Relayer Moat”</a:t>
            </a:r>
          </a:p>
        </p:txBody>
      </p:sp>
      <p:sp>
        <p:nvSpPr>
          <p:cNvPr id="4" name="Rounded Rectangle 3"/>
          <p:cNvSpPr/>
          <p:nvPr/>
        </p:nvSpPr>
        <p:spPr>
          <a:xfrm>
            <a:off x="914400" y="1737360"/>
            <a:ext cx="4937760" cy="4389120"/>
          </a:xfrm>
          <a:prstGeom prst="roundRect">
            <a:avLst/>
          </a:prstGeom>
          <a:solidFill>
            <a:srgbClr val="12192D"/>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389120" cy="3840480"/>
          </a:xfrm>
          <a:prstGeom prst="rect">
            <a:avLst/>
          </a:prstGeom>
          <a:noFill/>
        </p:spPr>
        <p:txBody>
          <a:bodyPr wrap="square">
            <a:spAutoFit/>
          </a:bodyPr>
          <a:lstStyle/>
          <a:p>
            <a:pPr>
              <a:defRPr sz="2000" b="1">
                <a:solidFill>
                  <a:srgbClr val="06B6D4"/>
                </a:solidFill>
              </a:defRPr>
            </a:pPr>
            <a:r>
              <a:t>Monetization Streams</a:t>
            </a:r>
          </a:p>
          <a:p>
            <a:br/>
            <a:pPr>
              <a:defRPr sz="1400">
                <a:solidFill>
                  <a:srgbClr val="FFFFFF"/>
                </a:solidFill>
              </a:defRPr>
            </a:pPr>
            <a:r>
              <a:t>• 0.05% Protocol Take-Rate: Settled contract volume ($250M ARR at 1% market penetration).</a:t>
            </a:r>
            <a:br/>
            <a:r>
              <a:t>• Surety Underwriting API: Verification fees paid by commercial surety bond providers.</a:t>
            </a:r>
            <a:br/>
            <a:r>
              <a:t>• Zero Crypto Gas: Relayer eliminates balance friction for enterprise bidders.</a:t>
            </a:r>
          </a:p>
        </p:txBody>
      </p:sp>
      <p:sp>
        <p:nvSpPr>
          <p:cNvPr id="6" name="Rounded Rectangle 5"/>
          <p:cNvSpPr/>
          <p:nvPr/>
        </p:nvSpPr>
        <p:spPr>
          <a:xfrm>
            <a:off x="6217920" y="1737360"/>
            <a:ext cx="5029200" cy="4389120"/>
          </a:xfrm>
          <a:prstGeom prst="roundRect">
            <a:avLst/>
          </a:prstGeom>
          <a:solidFill>
            <a:srgbClr val="0C1C30"/>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480560" cy="3840480"/>
          </a:xfrm>
          <a:prstGeom prst="rect">
            <a:avLst/>
          </a:prstGeom>
          <a:noFill/>
        </p:spPr>
        <p:txBody>
          <a:bodyPr wrap="square">
            <a:spAutoFit/>
          </a:bodyPr>
          <a:lstStyle/>
          <a:p>
            <a:pPr>
              <a:defRPr sz="2000" b="1">
                <a:solidFill>
                  <a:srgbClr val="A855F7"/>
                </a:solidFill>
              </a:defRPr>
            </a:pPr>
            <a:r>
              <a:t>Network Effects &amp; Moat</a:t>
            </a:r>
          </a:p>
          <a:p>
            <a:br/>
            <a:pPr>
              <a:defRPr sz="1400">
                <a:solidFill>
                  <a:srgbClr val="FFFFFF"/>
                </a:solidFill>
              </a:defRPr>
            </a:pPr>
            <a:r>
              <a:t>• Municipal Flywheel: Each city onboarded locks regional contractors into the BidTrace relayer.</a:t>
            </a:r>
            <a:br/>
            <a:r>
              <a:t>• Relayer Sticky Moat: Enterprise API contracts ensure sustainable long-term cash flow.</a:t>
            </a:r>
            <a:br/>
            <a:r>
              <a:t>• Standards Lock-In: Becomes the mandatory OCDS 1.1 compliance referee.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F59E0B"/>
                </a:solidFill>
              </a:defRPr>
            </a:pPr>
            <a:r>
              <a:t>FOUNDER-PROBLEM FIT</a:t>
            </a:r>
          </a:p>
          <a:p>
            <a:pPr>
              <a:defRPr sz="3400" b="1">
                <a:solidFill>
                  <a:srgbClr val="FFFFFF"/>
                </a:solidFill>
              </a:defRPr>
            </a:pPr>
            <a:r>
              <a:t>Built for Sovereign Cryptographic Settlement</a:t>
            </a:r>
          </a:p>
        </p:txBody>
      </p:sp>
      <p:sp>
        <p:nvSpPr>
          <p:cNvPr id="4" name="Rounded Rectangle 3"/>
          <p:cNvSpPr/>
          <p:nvPr/>
        </p:nvSpPr>
        <p:spPr>
          <a:xfrm>
            <a:off x="914400"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20240"/>
            <a:ext cx="2926080" cy="3108960"/>
          </a:xfrm>
          <a:prstGeom prst="rect">
            <a:avLst/>
          </a:prstGeom>
          <a:noFill/>
        </p:spPr>
        <p:txBody>
          <a:bodyPr wrap="square">
            <a:spAutoFit/>
          </a:bodyPr>
          <a:lstStyle/>
          <a:p>
            <a:pPr>
              <a:defRPr sz="1700" b="1">
                <a:solidFill>
                  <a:srgbClr val="06B6D4"/>
                </a:solidFill>
              </a:defRPr>
            </a:pPr>
            <a:r>
              <a:t>Solana Anchor Systems</a:t>
            </a:r>
          </a:p>
          <a:p>
            <a:pPr>
              <a:defRPr sz="1200" b="1">
                <a:solidFill>
                  <a:srgbClr val="94A3B8"/>
                </a:solidFill>
              </a:defRPr>
            </a:pPr>
            <a:r>
              <a:t>High-Throughput State Machines</a:t>
            </a:r>
          </a:p>
          <a:p>
            <a:br/>
            <a:pPr>
              <a:defRPr sz="1300">
                <a:solidFill>
                  <a:srgbClr val="FFFFFF"/>
                </a:solidFill>
              </a:defRPr>
            </a:pPr>
            <a:r>
              <a:t>Temporal slot phase locks, blinded commitments, and on-chain Olympic scoring algorithms.</a:t>
            </a:r>
          </a:p>
        </p:txBody>
      </p:sp>
      <p:sp>
        <p:nvSpPr>
          <p:cNvPr id="6" name="Rounded Rectangle 5"/>
          <p:cNvSpPr/>
          <p:nvPr/>
        </p:nvSpPr>
        <p:spPr>
          <a:xfrm>
            <a:off x="4434840"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920240"/>
            <a:ext cx="2926080" cy="3108960"/>
          </a:xfrm>
          <a:prstGeom prst="rect">
            <a:avLst/>
          </a:prstGeom>
          <a:noFill/>
        </p:spPr>
        <p:txBody>
          <a:bodyPr wrap="square">
            <a:spAutoFit/>
          </a:bodyPr>
          <a:lstStyle/>
          <a:p>
            <a:pPr>
              <a:defRPr sz="1700" b="1">
                <a:solidFill>
                  <a:srgbClr val="A855F7"/>
                </a:solidFill>
              </a:defRPr>
            </a:pPr>
            <a:r>
              <a:t>OCDS 1.1 Cryptography</a:t>
            </a:r>
          </a:p>
          <a:p>
            <a:pPr>
              <a:defRPr sz="1200" b="1">
                <a:solidFill>
                  <a:srgbClr val="94A3B8"/>
                </a:solidFill>
              </a:defRPr>
            </a:pPr>
            <a:r>
              <a:t>World Bank Data Standard</a:t>
            </a:r>
          </a:p>
          <a:p>
            <a:br/>
            <a:pPr>
              <a:defRPr sz="1300">
                <a:solidFill>
                  <a:srgbClr val="FFFFFF"/>
                </a:solidFill>
              </a:defRPr>
            </a:pPr>
            <a:r>
              <a:t>Deterministic RFC 8785 canonical hashing and open-contracting data schemas.</a:t>
            </a:r>
          </a:p>
        </p:txBody>
      </p:sp>
      <p:sp>
        <p:nvSpPr>
          <p:cNvPr id="8" name="Rounded Rectangle 7"/>
          <p:cNvSpPr/>
          <p:nvPr/>
        </p:nvSpPr>
        <p:spPr>
          <a:xfrm>
            <a:off x="7955279"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59" y="1920240"/>
            <a:ext cx="2926080" cy="3108960"/>
          </a:xfrm>
          <a:prstGeom prst="rect">
            <a:avLst/>
          </a:prstGeom>
          <a:noFill/>
        </p:spPr>
        <p:txBody>
          <a:bodyPr wrap="square">
            <a:spAutoFit/>
          </a:bodyPr>
          <a:lstStyle/>
          <a:p>
            <a:pPr>
              <a:defRPr sz="1700" b="1">
                <a:solidFill>
                  <a:srgbClr val="10B981"/>
                </a:solidFill>
              </a:defRPr>
            </a:pPr>
            <a:r>
              <a:t>B2G &amp; TradFi Relayers</a:t>
            </a:r>
          </a:p>
          <a:p>
            <a:pPr>
              <a:defRPr sz="1200" b="1">
                <a:solidFill>
                  <a:srgbClr val="94A3B8"/>
                </a:solidFill>
              </a:defRPr>
            </a:pPr>
            <a:r>
              <a:t>Zero-Friction Enterprise</a:t>
            </a:r>
          </a:p>
          <a:p>
            <a:br/>
            <a:pPr>
              <a:defRPr sz="1300">
                <a:solidFill>
                  <a:srgbClr val="FFFFFF"/>
                </a:solidFill>
              </a:defRPr>
            </a:pPr>
            <a:r>
              <a:t>Zero-gas relayer and air-gapped cryptographic bidder receipts giving contractors legal standing.</a:t>
            </a:r>
          </a:p>
        </p:txBody>
      </p:sp>
      <p:sp>
        <p:nvSpPr>
          <p:cNvPr id="10" name="Rounded Rectangle 9"/>
          <p:cNvSpPr/>
          <p:nvPr/>
        </p:nvSpPr>
        <p:spPr>
          <a:xfrm>
            <a:off x="914400" y="5440680"/>
            <a:ext cx="10360152" cy="105156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9966960" cy="868680"/>
          </a:xfrm>
          <a:prstGeom prst="rect">
            <a:avLst/>
          </a:prstGeom>
          <a:noFill/>
        </p:spPr>
        <p:txBody>
          <a:bodyPr wrap="square">
            <a:spAutoFit/>
          </a:bodyPr>
          <a:lstStyle/>
          <a:p>
            <a:pPr>
              <a:defRPr sz="1300" b="1">
                <a:solidFill>
                  <a:srgbClr val="06B6D4"/>
                </a:solidFill>
              </a:defRPr>
            </a:pPr>
            <a:r>
              <a:t>COLOSSEUM CRYPTO WORLD'S FAIR 2026 SUBMISSION</a:t>
            </a:r>
          </a:p>
          <a:p>
            <a:pPr>
              <a:defRPr sz="1200">
                <a:solidFill>
                  <a:srgbClr val="FFFFFF"/>
                </a:solidFill>
              </a:defRPr>
            </a:pPr>
            <a:r>
              <a:t>Live Protocol: bidtrace.net  |  Program ID: x3iSm5BCoXvEfNwT6m6Vs7ApBJtKjvuTm7qKBJtESjZ  |  GitHub: Ujjwal1396/BidTrace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