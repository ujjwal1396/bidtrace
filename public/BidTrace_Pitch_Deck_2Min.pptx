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0:00 - 0:15 | 28 Words on Slide]</a:t>
            </a:r>
          </a:p>
          <a:p>
            <a:r>
              <a:t>"Judges, every year $13 trillion is spent on public infrastructure, yet the entire process runs on centralized database trust. BidTrace brings tamper-proof sealed bidding to public contracts on Solana, making insider tampering mathematically impossible."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0:15 - 0:35 | 35 Words on Slide]</a:t>
            </a:r>
          </a:p>
          <a:p>
            <a:r>
              <a:t>"The fatal flaw in procurement isn't bad people—it's a window of time. Between submission deadlines and public opening, database admins have unmonitored root access to peek at competitor prices and backdate bids in MySQL. Centralized trust fails silently every single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0:35 - 0:55 | 34 Words on Slide]</a:t>
            </a:r>
          </a:p>
          <a:p>
            <a:r>
              <a:t>"BidTrace is Chainlink meets sealed envelopes for sovereign infrastructure. Our unique insight: Solana's 400ms Proof of History turns time into an unalterable physical law. Contractors seal dual envelopes, expired slots are rejected by validators, and evaluator collusion is pruned on-chain."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0:55 - 1:15 | 36 Words on Slide]</a:t>
            </a:r>
          </a:p>
          <a:p>
            <a:r>
              <a:t>"The macro tailwind is massive: the World Bank and UN now mandate OCDS 1.1 data standards to combat systemic fraud. Our bottoms-up beachhead is the $500 billion in development bank tenders. The dream state is clear: incorruptible sovereign capital where kickbacks are cryptographically eliminated."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1:15 - 1:35 | 36 Words on Slide]</a:t>
            </a:r>
          </a:p>
          <a:p>
            <a:r>
              <a:t>"This is not a slide concept—BidTrace is already working. We have 10 Anchor Rust instructions deployed on Solana Devnet, 78 passing unit tests with 100% hash parity, and an adversarial attack simulator live right now at bidtrace.net where you can watch live exploits fail on-chain."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1:35 - 1:50 | 39 Words on Slide]</a:t>
            </a:r>
          </a:p>
          <a:p>
            <a:r>
              <a:t>"Why does this keep working? Our business model scales with volume: a 0.05% protocol take-rate on awarded contracts plus TradFi surety underwriting fees. Our network effect is the zero-gas relayer: contractors pay no crypto gas, and each onboarded government locks hundreds of contractors into our verification rail."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1:50 - 2:00 | 39 Words on Slide]</a:t>
            </a:r>
          </a:p>
          <a:p>
            <a:r>
              <a:t>"We are uniquely equipped for this problem—combining deep expertise in Solana Anchor engineering, World Bank OCDS standards, and institutional compliance. We built BidTrace to give the world incorruptible public infrastructure.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png"/>
          <p:cNvPicPr>
            <a:picLocks noChangeAspect="1"/>
          </p:cNvPicPr>
          <p:nvPr/>
        </p:nvPicPr>
        <p:blipFill>
          <a:blip r:embed="rId2"/>
          <a:stretch>
            <a:fillRect/>
          </a:stretch>
        </p:blipFill>
        <p:spPr>
          <a:xfrm>
            <a:off x="1097280" y="1371600"/>
            <a:ext cx="1645920" cy="1857820"/>
          </a:xfrm>
          <a:prstGeom prst="rect">
            <a:avLst/>
          </a:prstGeom>
        </p:spPr>
      </p:pic>
      <p:sp>
        <p:nvSpPr>
          <p:cNvPr id="4" name="Rounded Rectangle 3"/>
          <p:cNvSpPr/>
          <p:nvPr/>
        </p:nvSpPr>
        <p:spPr>
          <a:xfrm>
            <a:off x="3017520" y="1417320"/>
            <a:ext cx="3840480" cy="384048"/>
          </a:xfrm>
          <a:prstGeom prst="roundRect">
            <a:avLst/>
          </a:prstGeom>
          <a:solidFill>
            <a:srgbClr val="102037"/>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6B6D4"/>
                </a:solidFill>
              </a:defRPr>
            </a:pPr>
            <a:r>
              <a:t>COLOSSEUM CRYPTO WORLD'S FAIR 2026</a:t>
            </a:r>
          </a:p>
        </p:txBody>
      </p:sp>
      <p:sp>
        <p:nvSpPr>
          <p:cNvPr id="5" name="TextBox 4"/>
          <p:cNvSpPr txBox="1"/>
          <p:nvPr/>
        </p:nvSpPr>
        <p:spPr>
          <a:xfrm>
            <a:off x="2926080" y="1874519"/>
            <a:ext cx="8229600" cy="1097280"/>
          </a:xfrm>
          <a:prstGeom prst="rect">
            <a:avLst/>
          </a:prstGeom>
          <a:noFill/>
        </p:spPr>
        <p:txBody>
          <a:bodyPr wrap="none">
            <a:spAutoFit/>
          </a:bodyPr>
          <a:lstStyle/>
          <a:p>
            <a:pPr>
              <a:defRPr sz="5600" b="1">
                <a:solidFill>
                  <a:srgbClr val="FFFFFF"/>
                </a:solidFill>
              </a:defRPr>
            </a:pPr>
            <a:r>
              <a:t>BidTrace</a:t>
            </a:r>
          </a:p>
        </p:txBody>
      </p:sp>
      <p:sp>
        <p:nvSpPr>
          <p:cNvPr id="6" name="TextBox 5"/>
          <p:cNvSpPr txBox="1"/>
          <p:nvPr/>
        </p:nvSpPr>
        <p:spPr>
          <a:xfrm>
            <a:off x="1097280" y="3154680"/>
            <a:ext cx="10058400" cy="1188720"/>
          </a:xfrm>
          <a:prstGeom prst="rect">
            <a:avLst/>
          </a:prstGeom>
          <a:noFill/>
        </p:spPr>
        <p:txBody>
          <a:bodyPr wrap="square">
            <a:spAutoFit/>
          </a:bodyPr>
          <a:lstStyle/>
          <a:p>
            <a:pPr>
              <a:defRPr sz="3200" b="1">
                <a:solidFill>
                  <a:srgbClr val="06B6D4"/>
                </a:solidFill>
              </a:defRPr>
            </a:pPr>
            <a:r>
              <a:t>Tamper-Proof Sealed Bidding for Public Contracts on Solana</a:t>
            </a:r>
          </a:p>
        </p:txBody>
      </p:sp>
      <p:sp>
        <p:nvSpPr>
          <p:cNvPr id="7" name="Rounded Rectangle 6"/>
          <p:cNvSpPr/>
          <p:nvPr/>
        </p:nvSpPr>
        <p:spPr>
          <a:xfrm>
            <a:off x="1097280" y="4754880"/>
            <a:ext cx="3200400" cy="137160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4892040"/>
            <a:ext cx="2834640" cy="1097280"/>
          </a:xfrm>
          <a:prstGeom prst="rect">
            <a:avLst/>
          </a:prstGeom>
          <a:noFill/>
        </p:spPr>
        <p:txBody>
          <a:bodyPr wrap="none">
            <a:spAutoFit/>
          </a:bodyPr>
          <a:lstStyle/>
          <a:p>
            <a:pPr>
              <a:defRPr sz="2600" b="1">
                <a:solidFill>
                  <a:srgbClr val="06B6D4"/>
                </a:solidFill>
              </a:defRPr>
            </a:pPr>
            <a:r>
              <a:t>$13.0 Trillion</a:t>
            </a:r>
          </a:p>
          <a:p>
            <a:pPr>
              <a:defRPr sz="1300">
                <a:solidFill>
                  <a:srgbClr val="94A3B8"/>
                </a:solidFill>
              </a:defRPr>
            </a:pPr>
            <a:r>
              <a:t>Annual Sovereign Spend</a:t>
            </a:r>
          </a:p>
        </p:txBody>
      </p:sp>
      <p:sp>
        <p:nvSpPr>
          <p:cNvPr id="9" name="Rounded Rectangle 8"/>
          <p:cNvSpPr/>
          <p:nvPr/>
        </p:nvSpPr>
        <p:spPr>
          <a:xfrm>
            <a:off x="4526280" y="4754880"/>
            <a:ext cx="3200400" cy="137160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4892040"/>
            <a:ext cx="2834640" cy="1097280"/>
          </a:xfrm>
          <a:prstGeom prst="rect">
            <a:avLst/>
          </a:prstGeom>
          <a:noFill/>
        </p:spPr>
        <p:txBody>
          <a:bodyPr wrap="none">
            <a:spAutoFit/>
          </a:bodyPr>
          <a:lstStyle/>
          <a:p>
            <a:pPr>
              <a:defRPr sz="2600" b="1">
                <a:solidFill>
                  <a:srgbClr val="A855F7"/>
                </a:solidFill>
              </a:defRPr>
            </a:pPr>
            <a:r>
              <a:t>400ms Clock</a:t>
            </a:r>
          </a:p>
          <a:p>
            <a:pPr>
              <a:defRPr sz="1300">
                <a:solidFill>
                  <a:srgbClr val="94A3B8"/>
                </a:solidFill>
              </a:defRPr>
            </a:pPr>
            <a:r>
              <a:t>Proof of History Precision</a:t>
            </a:r>
          </a:p>
        </p:txBody>
      </p:sp>
      <p:sp>
        <p:nvSpPr>
          <p:cNvPr id="11" name="Rounded Rectangle 10"/>
          <p:cNvSpPr/>
          <p:nvPr/>
        </p:nvSpPr>
        <p:spPr>
          <a:xfrm>
            <a:off x="7955279" y="4754880"/>
            <a:ext cx="3200400" cy="137160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59" y="4892040"/>
            <a:ext cx="2834640" cy="1097280"/>
          </a:xfrm>
          <a:prstGeom prst="rect">
            <a:avLst/>
          </a:prstGeom>
          <a:noFill/>
        </p:spPr>
        <p:txBody>
          <a:bodyPr wrap="none">
            <a:spAutoFit/>
          </a:bodyPr>
          <a:lstStyle/>
          <a:p>
            <a:pPr>
              <a:defRPr sz="2600" b="1">
                <a:solidFill>
                  <a:srgbClr val="10B981"/>
                </a:solidFill>
              </a:defRPr>
            </a:pPr>
            <a:r>
              <a:t>Zero Crypto Gas</a:t>
            </a:r>
          </a:p>
          <a:p>
            <a:pPr>
              <a:defRPr sz="1300">
                <a:solidFill>
                  <a:srgbClr val="94A3B8"/>
                </a:solidFill>
              </a:defRPr>
            </a:pPr>
            <a:r>
              <a:t>Enterprise Relayer Sponsored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F43F5E"/>
                </a:solidFill>
              </a:defRPr>
            </a:pPr>
            <a:r>
              <a:t>THE $13 TRILLION CRITICAL FLAW</a:t>
            </a:r>
          </a:p>
          <a:p>
            <a:pPr>
              <a:defRPr sz="3400" b="1">
                <a:solidFill>
                  <a:srgbClr val="FFFFFF"/>
                </a:solidFill>
              </a:defRPr>
            </a:pPr>
            <a:r>
              <a:t>The Post-Deadline Insider Tampering Window</a:t>
            </a:r>
          </a:p>
        </p:txBody>
      </p:sp>
      <p:sp>
        <p:nvSpPr>
          <p:cNvPr id="4" name="Rounded Rectangle 3"/>
          <p:cNvSpPr/>
          <p:nvPr/>
        </p:nvSpPr>
        <p:spPr>
          <a:xfrm>
            <a:off x="914400" y="1737360"/>
            <a:ext cx="4937760" cy="4389120"/>
          </a:xfrm>
          <a:prstGeom prst="roundRect">
            <a:avLst/>
          </a:prstGeom>
          <a:solidFill>
            <a:srgbClr val="12192D"/>
          </a:solidFill>
          <a:ln w="19050">
            <a:solidFill>
              <a:srgbClr val="5014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011680"/>
            <a:ext cx="4389120" cy="3840480"/>
          </a:xfrm>
          <a:prstGeom prst="rect">
            <a:avLst/>
          </a:prstGeom>
          <a:noFill/>
        </p:spPr>
        <p:txBody>
          <a:bodyPr wrap="square">
            <a:spAutoFit/>
          </a:bodyPr>
          <a:lstStyle/>
          <a:p>
            <a:pPr>
              <a:defRPr sz="3600" b="1">
                <a:solidFill>
                  <a:srgbClr val="F43F5E"/>
                </a:solidFill>
              </a:defRPr>
            </a:pPr>
            <a:r>
              <a:t>$13 Trillion / Year</a:t>
            </a:r>
          </a:p>
          <a:p>
            <a:pPr>
              <a:defRPr sz="1600" b="1">
                <a:solidFill>
                  <a:srgbClr val="FFFFFF"/>
                </a:solidFill>
              </a:defRPr>
            </a:pPr>
            <a:r>
              <a:t>15% of Global GDP Vulnerable to Insider DBA Access</a:t>
            </a:r>
          </a:p>
          <a:p>
            <a:br/>
            <a:pPr>
              <a:defRPr sz="1400">
                <a:solidFill>
                  <a:srgbClr val="94A3B8"/>
                </a:solidFill>
              </a:defRPr>
            </a:pPr>
            <a:r>
              <a:t>• Database admins hold MySQL root keys.</a:t>
            </a:r>
            <a:br/>
            <a:r>
              <a:t>• Late bids quietly backdated before opening.</a:t>
            </a:r>
            <a:br/>
            <a:r>
              <a:t>• Price peeking leaks competitor bids.</a:t>
            </a:r>
          </a:p>
        </p:txBody>
      </p:sp>
      <p:sp>
        <p:nvSpPr>
          <p:cNvPr id="6" name="Rounded Rectangle 5"/>
          <p:cNvSpPr/>
          <p:nvPr/>
        </p:nvSpPr>
        <p:spPr>
          <a:xfrm>
            <a:off x="6217920" y="1737360"/>
            <a:ext cx="5029200" cy="4389120"/>
          </a:xfrm>
          <a:prstGeom prst="roundRect">
            <a:avLst/>
          </a:prstGeom>
          <a:solidFill>
            <a:srgbClr val="0C1C30"/>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2011680"/>
            <a:ext cx="4480560" cy="3840480"/>
          </a:xfrm>
          <a:prstGeom prst="rect">
            <a:avLst/>
          </a:prstGeom>
          <a:noFill/>
        </p:spPr>
        <p:txBody>
          <a:bodyPr wrap="square">
            <a:spAutoFit/>
          </a:bodyPr>
          <a:lstStyle/>
          <a:p>
            <a:pPr>
              <a:defRPr sz="3600" b="1">
                <a:solidFill>
                  <a:srgbClr val="06B6D4"/>
                </a:solidFill>
              </a:defRPr>
            </a:pPr>
            <a:r>
              <a:t>Zero Mathematical Proof</a:t>
            </a:r>
          </a:p>
          <a:p>
            <a:pPr>
              <a:defRPr sz="1600" b="1">
                <a:solidFill>
                  <a:srgbClr val="FFFFFF"/>
                </a:solidFill>
              </a:defRPr>
            </a:pPr>
            <a:r>
              <a:t>Centralized Custody Relies on Blind Human Trust</a:t>
            </a:r>
          </a:p>
          <a:p>
            <a:br/>
            <a:pPr>
              <a:defRPr sz="1400">
                <a:solidFill>
                  <a:srgbClr val="94A3B8"/>
                </a:solidFill>
              </a:defRPr>
            </a:pPr>
            <a:r>
              <a:t>• Server timestamps can be rewritten in seconds.</a:t>
            </a:r>
            <a:br/>
            <a:r>
              <a:t>• Evaluation scores manipulated behind closed doors.</a:t>
            </a:r>
            <a:br/>
            <a:r>
              <a:t>• No cryptographic audit trail for the public.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06B6D4"/>
                </a:solidFill>
              </a:defRPr>
            </a:pPr>
            <a:r>
              <a:t>THE HERO MECHANISM</a:t>
            </a:r>
          </a:p>
          <a:p>
            <a:pPr>
              <a:defRPr sz="3200" b="1">
                <a:solidFill>
                  <a:srgbClr val="FFFFFF"/>
                </a:solidFill>
              </a:defRPr>
            </a:pPr>
            <a:r>
              <a:t>“Chainlink + Sealed Envelopes for Sovereign Capital”</a:t>
            </a:r>
          </a:p>
        </p:txBody>
      </p:sp>
      <p:sp>
        <p:nvSpPr>
          <p:cNvPr id="4" name="Rounded Rectangle 3"/>
          <p:cNvSpPr/>
          <p:nvPr/>
        </p:nvSpPr>
        <p:spPr>
          <a:xfrm>
            <a:off x="914400" y="1737360"/>
            <a:ext cx="329184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011680"/>
            <a:ext cx="2926080" cy="3840480"/>
          </a:xfrm>
          <a:prstGeom prst="rect">
            <a:avLst/>
          </a:prstGeom>
          <a:noFill/>
        </p:spPr>
        <p:txBody>
          <a:bodyPr wrap="square">
            <a:spAutoFit/>
          </a:bodyPr>
          <a:lstStyle/>
          <a:p>
            <a:pPr>
              <a:defRPr sz="1800" b="1">
                <a:solidFill>
                  <a:srgbClr val="06B6D4"/>
                </a:solidFill>
              </a:defRPr>
            </a:pPr>
            <a:r>
              <a:t>Dual-Envelope Sealing</a:t>
            </a:r>
          </a:p>
          <a:p>
            <a:pPr>
              <a:defRPr sz="1200" b="1">
                <a:solidFill>
                  <a:srgbClr val="94A3B8"/>
                </a:solidFill>
              </a:defRPr>
            </a:pPr>
            <a:r>
              <a:t>OCDS 1.1 Cryptographic Hash</a:t>
            </a:r>
          </a:p>
          <a:p>
            <a:br/>
            <a:pPr>
              <a:defRPr sz="1400">
                <a:solidFill>
                  <a:srgbClr val="FFFFFF"/>
                </a:solidFill>
              </a:defRPr>
            </a:pPr>
            <a:r>
              <a:t>Technical &amp; financial hashes locked via RFC 8785 canonical standard. Zero leakage.</a:t>
            </a:r>
          </a:p>
        </p:txBody>
      </p:sp>
      <p:sp>
        <p:nvSpPr>
          <p:cNvPr id="6" name="Rounded Rectangle 5"/>
          <p:cNvSpPr/>
          <p:nvPr/>
        </p:nvSpPr>
        <p:spPr>
          <a:xfrm>
            <a:off x="4434840" y="1737360"/>
            <a:ext cx="329184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2011680"/>
            <a:ext cx="2926080" cy="3840480"/>
          </a:xfrm>
          <a:prstGeom prst="rect">
            <a:avLst/>
          </a:prstGeom>
          <a:noFill/>
        </p:spPr>
        <p:txBody>
          <a:bodyPr wrap="square">
            <a:spAutoFit/>
          </a:bodyPr>
          <a:lstStyle/>
          <a:p>
            <a:pPr>
              <a:defRPr sz="1800" b="1">
                <a:solidFill>
                  <a:srgbClr val="A855F7"/>
                </a:solidFill>
              </a:defRPr>
            </a:pPr>
            <a:r>
              <a:t>Proof of History Clock</a:t>
            </a:r>
          </a:p>
          <a:p>
            <a:pPr>
              <a:defRPr sz="1200" b="1">
                <a:solidFill>
                  <a:srgbClr val="94A3B8"/>
                </a:solidFill>
              </a:defRPr>
            </a:pPr>
            <a:r>
              <a:t>Consensus Phase Locks</a:t>
            </a:r>
          </a:p>
          <a:p>
            <a:br/>
            <a:pPr>
              <a:defRPr sz="1400">
                <a:solidFill>
                  <a:srgbClr val="FFFFFF"/>
                </a:solidFill>
              </a:defRPr>
            </a:pPr>
            <a:r>
              <a:t>Solana 400ms clock makes post-deadline tampering physically impossible.</a:t>
            </a:r>
          </a:p>
        </p:txBody>
      </p:sp>
      <p:sp>
        <p:nvSpPr>
          <p:cNvPr id="8" name="Rounded Rectangle 7"/>
          <p:cNvSpPr/>
          <p:nvPr/>
        </p:nvSpPr>
        <p:spPr>
          <a:xfrm>
            <a:off x="7955279" y="1737360"/>
            <a:ext cx="329184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59" y="2011680"/>
            <a:ext cx="2926080" cy="3840480"/>
          </a:xfrm>
          <a:prstGeom prst="rect">
            <a:avLst/>
          </a:prstGeom>
          <a:noFill/>
        </p:spPr>
        <p:txBody>
          <a:bodyPr wrap="square">
            <a:spAutoFit/>
          </a:bodyPr>
          <a:lstStyle/>
          <a:p>
            <a:pPr>
              <a:defRPr sz="1800" b="1">
                <a:solidFill>
                  <a:srgbClr val="10B981"/>
                </a:solidFill>
              </a:defRPr>
            </a:pPr>
            <a:r>
              <a:t>Blinded Outlier Pruning</a:t>
            </a:r>
          </a:p>
          <a:p>
            <a:pPr>
              <a:defRPr sz="1200" b="1">
                <a:solidFill>
                  <a:srgbClr val="94A3B8"/>
                </a:solidFill>
              </a:defRPr>
            </a:pPr>
            <a:r>
              <a:t>Olympic Trimmed Mean</a:t>
            </a:r>
          </a:p>
          <a:p>
            <a:br/>
            <a:pPr>
              <a:defRPr sz="1400">
                <a:solidFill>
                  <a:srgbClr val="FFFFFF"/>
                </a:solidFill>
              </a:defRPr>
            </a:pPr>
            <a:r>
              <a:t>On-chain algorithm automatically prunes collusive scores before price unsealing.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A855F7"/>
                </a:solidFill>
              </a:defRPr>
            </a:pPr>
            <a:r>
              <a:t>MACRO SHIFT &amp; BOTTOMS-UP OPPORTUNITY</a:t>
            </a:r>
          </a:p>
          <a:p>
            <a:pPr>
              <a:defRPr sz="3400" b="1">
                <a:solidFill>
                  <a:srgbClr val="FFFFFF"/>
                </a:solidFill>
              </a:defRPr>
            </a:pPr>
            <a:r>
              <a:t>From Administrative Paper to Incorruptible Rails</a:t>
            </a:r>
          </a:p>
        </p:txBody>
      </p:sp>
      <p:sp>
        <p:nvSpPr>
          <p:cNvPr id="4" name="Rounded Rectangle 3"/>
          <p:cNvSpPr/>
          <p:nvPr/>
        </p:nvSpPr>
        <p:spPr>
          <a:xfrm>
            <a:off x="914400" y="1737360"/>
            <a:ext cx="512064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011680"/>
            <a:ext cx="4572000" cy="3840480"/>
          </a:xfrm>
          <a:prstGeom prst="rect">
            <a:avLst/>
          </a:prstGeom>
          <a:noFill/>
        </p:spPr>
        <p:txBody>
          <a:bodyPr wrap="square">
            <a:spAutoFit/>
          </a:bodyPr>
          <a:lstStyle/>
          <a:p>
            <a:pPr>
              <a:defRPr sz="1800" b="1">
                <a:solidFill>
                  <a:srgbClr val="06B6D4"/>
                </a:solidFill>
              </a:defRPr>
            </a:pPr>
            <a:r>
              <a:t>Macro Trends &amp; The Dream State</a:t>
            </a:r>
          </a:p>
          <a:p>
            <a:br/>
            <a:pPr>
              <a:defRPr sz="1400">
                <a:solidFill>
                  <a:srgbClr val="FFFFFF"/>
                </a:solidFill>
              </a:defRPr>
            </a:pPr>
            <a:r>
              <a:t>• World Bank Mandate: Enforces OCDS 1.1 anti-corruption standard across all projects.</a:t>
            </a:r>
            <a:br/>
            <a:r>
              <a:t>• TradFi On-Chain Shift: Multilateral development bank tenders migrating to Web3 verification.</a:t>
            </a:r>
            <a:br/>
            <a:r>
              <a:t>• Dream State: Zero kickback windows, instant cryptographic audit proofs, and automated surety release.</a:t>
            </a:r>
          </a:p>
        </p:txBody>
      </p:sp>
      <p:sp>
        <p:nvSpPr>
          <p:cNvPr id="6" name="Rounded Rectangle 5"/>
          <p:cNvSpPr/>
          <p:nvPr/>
        </p:nvSpPr>
        <p:spPr>
          <a:xfrm>
            <a:off x="6400800" y="1737360"/>
            <a:ext cx="4846320" cy="2057400"/>
          </a:xfrm>
          <a:prstGeom prst="roundRect">
            <a:avLst/>
          </a:prstGeom>
          <a:solidFill>
            <a:srgbClr val="0C1C30"/>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0" y="1920240"/>
            <a:ext cx="4297680" cy="1737360"/>
          </a:xfrm>
          <a:prstGeom prst="rect">
            <a:avLst/>
          </a:prstGeom>
          <a:noFill/>
        </p:spPr>
        <p:txBody>
          <a:bodyPr wrap="square">
            <a:spAutoFit/>
          </a:bodyPr>
          <a:lstStyle/>
          <a:p>
            <a:pPr>
              <a:defRPr sz="3000" b="1">
                <a:solidFill>
                  <a:srgbClr val="06B6D4"/>
                </a:solidFill>
              </a:defRPr>
            </a:pPr>
            <a:r>
              <a:t>$500 Billion SAM</a:t>
            </a:r>
          </a:p>
          <a:p>
            <a:pPr>
              <a:defRPr sz="1300">
                <a:solidFill>
                  <a:srgbClr val="94A3B8"/>
                </a:solidFill>
              </a:defRPr>
            </a:pPr>
            <a:r>
              <a:t>Multilateral Development Bank Tenders (Immediate Beachhead)</a:t>
            </a:r>
          </a:p>
        </p:txBody>
      </p:sp>
      <p:sp>
        <p:nvSpPr>
          <p:cNvPr id="8" name="Rounded Rectangle 7"/>
          <p:cNvSpPr/>
          <p:nvPr/>
        </p:nvSpPr>
        <p:spPr>
          <a:xfrm>
            <a:off x="6400800" y="4069080"/>
            <a:ext cx="4846320" cy="2057400"/>
          </a:xfrm>
          <a:prstGeom prst="roundRect">
            <a:avLst/>
          </a:prstGeom>
          <a:solidFill>
            <a:srgbClr val="12192D"/>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4251960"/>
            <a:ext cx="4297680" cy="1737360"/>
          </a:xfrm>
          <a:prstGeom prst="rect">
            <a:avLst/>
          </a:prstGeom>
          <a:noFill/>
        </p:spPr>
        <p:txBody>
          <a:bodyPr wrap="square">
            <a:spAutoFit/>
          </a:bodyPr>
          <a:lstStyle/>
          <a:p>
            <a:pPr>
              <a:defRPr sz="3000" b="1">
                <a:solidFill>
                  <a:srgbClr val="A855F7"/>
                </a:solidFill>
              </a:defRPr>
            </a:pPr>
            <a:r>
              <a:t>$13.0 Trillion TAM</a:t>
            </a:r>
          </a:p>
          <a:p>
            <a:pPr>
              <a:defRPr sz="1300">
                <a:solidFill>
                  <a:srgbClr val="94A3B8"/>
                </a:solidFill>
              </a:defRPr>
            </a:pPr>
            <a:r>
              <a:t>Total Annual Global Public Infrastructure Procurement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10B981"/>
                </a:solidFill>
              </a:defRPr>
            </a:pPr>
            <a:r>
              <a:t>TRACTION &amp; VERIFIED EXECUTION</a:t>
            </a:r>
          </a:p>
          <a:p>
            <a:pPr>
              <a:defRPr sz="3400" b="1">
                <a:solidFill>
                  <a:srgbClr val="FFFFFF"/>
                </a:solidFill>
              </a:defRPr>
            </a:pPr>
            <a:r>
              <a:t>“This Is Already Working Live on Solana”</a:t>
            </a:r>
          </a:p>
        </p:txBody>
      </p:sp>
      <p:sp>
        <p:nvSpPr>
          <p:cNvPr id="4" name="Rounded Rectangle 3"/>
          <p:cNvSpPr/>
          <p:nvPr/>
        </p:nvSpPr>
        <p:spPr>
          <a:xfrm>
            <a:off x="914400" y="1737360"/>
            <a:ext cx="246888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2011680"/>
            <a:ext cx="2194560" cy="3840480"/>
          </a:xfrm>
          <a:prstGeom prst="rect">
            <a:avLst/>
          </a:prstGeom>
          <a:noFill/>
        </p:spPr>
        <p:txBody>
          <a:bodyPr wrap="square">
            <a:spAutoFit/>
          </a:bodyPr>
          <a:lstStyle/>
          <a:p>
            <a:pPr>
              <a:defRPr sz="3600" b="1">
                <a:solidFill>
                  <a:srgbClr val="06B6D4"/>
                </a:solidFill>
              </a:defRPr>
            </a:pPr>
            <a:r>
              <a:t>10</a:t>
            </a:r>
          </a:p>
          <a:p>
            <a:pPr>
              <a:defRPr sz="1600" b="1">
                <a:solidFill>
                  <a:srgbClr val="FFFFFF"/>
                </a:solidFill>
              </a:defRPr>
            </a:pPr>
            <a:r>
              <a:t>Anchor Instructions</a:t>
            </a:r>
          </a:p>
          <a:p>
            <a:br/>
            <a:pPr>
              <a:defRPr sz="1300">
                <a:solidFill>
                  <a:srgbClr val="94A3B8"/>
                </a:solidFill>
              </a:defRPr>
            </a:pPr>
            <a:r>
              <a:t>Deployed on Solana Devnet (x3iSm5BC...ESjZ)</a:t>
            </a:r>
          </a:p>
        </p:txBody>
      </p:sp>
      <p:sp>
        <p:nvSpPr>
          <p:cNvPr id="6" name="Rounded Rectangle 5"/>
          <p:cNvSpPr/>
          <p:nvPr/>
        </p:nvSpPr>
        <p:spPr>
          <a:xfrm>
            <a:off x="3547872" y="1737360"/>
            <a:ext cx="246888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85032" y="2011680"/>
            <a:ext cx="2194560" cy="3840480"/>
          </a:xfrm>
          <a:prstGeom prst="rect">
            <a:avLst/>
          </a:prstGeom>
          <a:noFill/>
        </p:spPr>
        <p:txBody>
          <a:bodyPr wrap="square">
            <a:spAutoFit/>
          </a:bodyPr>
          <a:lstStyle/>
          <a:p>
            <a:pPr>
              <a:defRPr sz="3600" b="1">
                <a:solidFill>
                  <a:srgbClr val="10B981"/>
                </a:solidFill>
              </a:defRPr>
            </a:pPr>
            <a:r>
              <a:t>78 / 78</a:t>
            </a:r>
          </a:p>
          <a:p>
            <a:pPr>
              <a:defRPr sz="1600" b="1">
                <a:solidFill>
                  <a:srgbClr val="FFFFFF"/>
                </a:solidFill>
              </a:defRPr>
            </a:pPr>
            <a:r>
              <a:t>Passing Unit Tests</a:t>
            </a:r>
          </a:p>
          <a:p>
            <a:br/>
            <a:pPr>
              <a:defRPr sz="1300">
                <a:solidFill>
                  <a:srgbClr val="94A3B8"/>
                </a:solidFill>
              </a:defRPr>
            </a:pPr>
            <a:r>
              <a:t>100% Cross-Language RFC 8785 Parity</a:t>
            </a:r>
          </a:p>
        </p:txBody>
      </p:sp>
      <p:sp>
        <p:nvSpPr>
          <p:cNvPr id="8" name="Rounded Rectangle 7"/>
          <p:cNvSpPr/>
          <p:nvPr/>
        </p:nvSpPr>
        <p:spPr>
          <a:xfrm>
            <a:off x="6181344" y="1737360"/>
            <a:ext cx="246888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8504" y="2011680"/>
            <a:ext cx="2194560" cy="3840480"/>
          </a:xfrm>
          <a:prstGeom prst="rect">
            <a:avLst/>
          </a:prstGeom>
          <a:noFill/>
        </p:spPr>
        <p:txBody>
          <a:bodyPr wrap="square">
            <a:spAutoFit/>
          </a:bodyPr>
          <a:lstStyle/>
          <a:p>
            <a:pPr>
              <a:defRPr sz="3600" b="1">
                <a:solidFill>
                  <a:srgbClr val="F43F5E"/>
                </a:solidFill>
              </a:defRPr>
            </a:pPr>
            <a:r>
              <a:t>1-Click</a:t>
            </a:r>
          </a:p>
          <a:p>
            <a:pPr>
              <a:defRPr sz="1600" b="1">
                <a:solidFill>
                  <a:srgbClr val="FFFFFF"/>
                </a:solidFill>
              </a:defRPr>
            </a:pPr>
            <a:r>
              <a:t>Attack Simulator</a:t>
            </a:r>
          </a:p>
          <a:p>
            <a:br/>
            <a:pPr>
              <a:defRPr sz="1300">
                <a:solidFill>
                  <a:srgbClr val="94A3B8"/>
                </a:solidFill>
              </a:defRPr>
            </a:pPr>
            <a:r>
              <a:t>Live On-Chain Exploits Blocked in Real-Time</a:t>
            </a:r>
          </a:p>
        </p:txBody>
      </p:sp>
      <p:sp>
        <p:nvSpPr>
          <p:cNvPr id="10" name="Rounded Rectangle 9"/>
          <p:cNvSpPr/>
          <p:nvPr/>
        </p:nvSpPr>
        <p:spPr>
          <a:xfrm>
            <a:off x="8814816" y="1737360"/>
            <a:ext cx="246888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51976" y="2011680"/>
            <a:ext cx="2194560" cy="3840480"/>
          </a:xfrm>
          <a:prstGeom prst="rect">
            <a:avLst/>
          </a:prstGeom>
          <a:noFill/>
        </p:spPr>
        <p:txBody>
          <a:bodyPr wrap="square">
            <a:spAutoFit/>
          </a:bodyPr>
          <a:lstStyle/>
          <a:p>
            <a:pPr>
              <a:defRPr sz="3600" b="1">
                <a:solidFill>
                  <a:srgbClr val="A855F7"/>
                </a:solidFill>
              </a:defRPr>
            </a:pPr>
            <a:r>
              <a:t>0 Gas</a:t>
            </a:r>
          </a:p>
          <a:p>
            <a:pPr>
              <a:defRPr sz="1600" b="1">
                <a:solidFill>
                  <a:srgbClr val="FFFFFF"/>
                </a:solidFill>
              </a:defRPr>
            </a:pPr>
            <a:r>
              <a:t>Relayer Protocol</a:t>
            </a:r>
          </a:p>
          <a:p>
            <a:br/>
            <a:pPr>
              <a:defRPr sz="1300">
                <a:solidFill>
                  <a:srgbClr val="94A3B8"/>
                </a:solidFill>
              </a:defRPr>
            </a:pPr>
            <a:r>
              <a:t>Live at bidtrace.net with Zero Crypto Friction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06B6D4"/>
                </a:solidFill>
              </a:defRPr>
            </a:pPr>
            <a:r>
              <a:t>NETWORK EFFECTS &amp; SUSTAINABLE REVENUE</a:t>
            </a:r>
          </a:p>
          <a:p>
            <a:pPr>
              <a:defRPr sz="3400" b="1">
                <a:solidFill>
                  <a:srgbClr val="FFFFFF"/>
                </a:solidFill>
              </a:defRPr>
            </a:pPr>
            <a:r>
              <a:t>“Why This Keeps Growing: The Relayer Moat”</a:t>
            </a:r>
          </a:p>
        </p:txBody>
      </p:sp>
      <p:sp>
        <p:nvSpPr>
          <p:cNvPr id="4" name="Rounded Rectangle 3"/>
          <p:cNvSpPr/>
          <p:nvPr/>
        </p:nvSpPr>
        <p:spPr>
          <a:xfrm>
            <a:off x="914400" y="1737360"/>
            <a:ext cx="4937760" cy="4389120"/>
          </a:xfrm>
          <a:prstGeom prst="roundRect">
            <a:avLst/>
          </a:prstGeom>
          <a:solidFill>
            <a:srgbClr val="12192D"/>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011680"/>
            <a:ext cx="4389120" cy="3840480"/>
          </a:xfrm>
          <a:prstGeom prst="rect">
            <a:avLst/>
          </a:prstGeom>
          <a:noFill/>
        </p:spPr>
        <p:txBody>
          <a:bodyPr wrap="square">
            <a:spAutoFit/>
          </a:bodyPr>
          <a:lstStyle/>
          <a:p>
            <a:pPr>
              <a:defRPr sz="2000" b="1">
                <a:solidFill>
                  <a:srgbClr val="06B6D4"/>
                </a:solidFill>
              </a:defRPr>
            </a:pPr>
            <a:r>
              <a:t>Monetization Streams</a:t>
            </a:r>
          </a:p>
          <a:p>
            <a:br/>
            <a:pPr>
              <a:defRPr sz="1400">
                <a:solidFill>
                  <a:srgbClr val="FFFFFF"/>
                </a:solidFill>
              </a:defRPr>
            </a:pPr>
            <a:r>
              <a:t>• 0.05% Protocol Fee: Settled contract volume ($250M ARR at 1% market penetration).</a:t>
            </a:r>
            <a:br/>
            <a:r>
              <a:t>• Surety Underwriting API: Verification fees paid by commercial surety bond providers.</a:t>
            </a:r>
            <a:br/>
            <a:r>
              <a:t>• Zero Crypto Gas: Relayer eliminates balance friction for enterprise bidders.</a:t>
            </a:r>
          </a:p>
        </p:txBody>
      </p:sp>
      <p:sp>
        <p:nvSpPr>
          <p:cNvPr id="6" name="Rounded Rectangle 5"/>
          <p:cNvSpPr/>
          <p:nvPr/>
        </p:nvSpPr>
        <p:spPr>
          <a:xfrm>
            <a:off x="6217920" y="1737360"/>
            <a:ext cx="5029200" cy="4389120"/>
          </a:xfrm>
          <a:prstGeom prst="roundRect">
            <a:avLst/>
          </a:prstGeom>
          <a:solidFill>
            <a:srgbClr val="0C1C30"/>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2011680"/>
            <a:ext cx="4480560" cy="3840480"/>
          </a:xfrm>
          <a:prstGeom prst="rect">
            <a:avLst/>
          </a:prstGeom>
          <a:noFill/>
        </p:spPr>
        <p:txBody>
          <a:bodyPr wrap="square">
            <a:spAutoFit/>
          </a:bodyPr>
          <a:lstStyle/>
          <a:p>
            <a:pPr>
              <a:defRPr sz="2000" b="1">
                <a:solidFill>
                  <a:srgbClr val="A855F7"/>
                </a:solidFill>
              </a:defRPr>
            </a:pPr>
            <a:r>
              <a:t>Network Effects &amp; Moat</a:t>
            </a:r>
          </a:p>
          <a:p>
            <a:br/>
            <a:pPr>
              <a:defRPr sz="1400">
                <a:solidFill>
                  <a:srgbClr val="FFFFFF"/>
                </a:solidFill>
              </a:defRPr>
            </a:pPr>
            <a:r>
              <a:t>• Municipal Onboarding Flywheel: Each city onboarded locks regional contractors into the BidTrace relayer.</a:t>
            </a:r>
            <a:br/>
            <a:r>
              <a:t>• Relayer Sticky Moat: Enterprise API contracts ensure sustainable long-term cash flow.</a:t>
            </a:r>
            <a:br/>
            <a:r>
              <a:t>• Standards Lock-In: Becomes the mandatory OCDS 1.1 compliance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F59E0B"/>
                </a:solidFill>
              </a:defRPr>
            </a:pPr>
            <a:r>
              <a:t>FOUNDER-PROBLEM FIT</a:t>
            </a:r>
          </a:p>
          <a:p>
            <a:pPr>
              <a:defRPr sz="3400" b="1">
                <a:solidFill>
                  <a:srgbClr val="FFFFFF"/>
                </a:solidFill>
              </a:defRPr>
            </a:pPr>
            <a:r>
              <a:t>Built for Sovereign Cryptographic Settlement</a:t>
            </a:r>
          </a:p>
        </p:txBody>
      </p:sp>
      <p:sp>
        <p:nvSpPr>
          <p:cNvPr id="4" name="Rounded Rectangle 3"/>
          <p:cNvSpPr/>
          <p:nvPr/>
        </p:nvSpPr>
        <p:spPr>
          <a:xfrm>
            <a:off x="914400" y="1737360"/>
            <a:ext cx="3291840" cy="34747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20240"/>
            <a:ext cx="2926080" cy="3108960"/>
          </a:xfrm>
          <a:prstGeom prst="rect">
            <a:avLst/>
          </a:prstGeom>
          <a:noFill/>
        </p:spPr>
        <p:txBody>
          <a:bodyPr wrap="square">
            <a:spAutoFit/>
          </a:bodyPr>
          <a:lstStyle/>
          <a:p>
            <a:pPr>
              <a:defRPr sz="1700" b="1">
                <a:solidFill>
                  <a:srgbClr val="06B6D4"/>
                </a:solidFill>
              </a:defRPr>
            </a:pPr>
            <a:r>
              <a:t>Solana Anchor Engineering</a:t>
            </a:r>
          </a:p>
          <a:p>
            <a:pPr>
              <a:defRPr sz="1200" b="1">
                <a:solidFill>
                  <a:srgbClr val="94A3B8"/>
                </a:solidFill>
              </a:defRPr>
            </a:pPr>
            <a:r>
              <a:t>High-Throughput State Machines</a:t>
            </a:r>
          </a:p>
          <a:p>
            <a:br/>
            <a:pPr>
              <a:defRPr sz="1300">
                <a:solidFill>
                  <a:srgbClr val="FFFFFF"/>
                </a:solidFill>
              </a:defRPr>
            </a:pPr>
            <a:r>
              <a:t>Specialized in temporal phase locks, blinded commitments, and on-chain Olympic scoring algorithms.</a:t>
            </a:r>
          </a:p>
        </p:txBody>
      </p:sp>
      <p:sp>
        <p:nvSpPr>
          <p:cNvPr id="6" name="Rounded Rectangle 5"/>
          <p:cNvSpPr/>
          <p:nvPr/>
        </p:nvSpPr>
        <p:spPr>
          <a:xfrm>
            <a:off x="4434840" y="1737360"/>
            <a:ext cx="3291840" cy="34747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1920240"/>
            <a:ext cx="2926080" cy="3108960"/>
          </a:xfrm>
          <a:prstGeom prst="rect">
            <a:avLst/>
          </a:prstGeom>
          <a:noFill/>
        </p:spPr>
        <p:txBody>
          <a:bodyPr wrap="square">
            <a:spAutoFit/>
          </a:bodyPr>
          <a:lstStyle/>
          <a:p>
            <a:pPr>
              <a:defRPr sz="1700" b="1">
                <a:solidFill>
                  <a:srgbClr val="A855F7"/>
                </a:solidFill>
              </a:defRPr>
            </a:pPr>
            <a:r>
              <a:t>OCDS 1.1 Cryptography</a:t>
            </a:r>
          </a:p>
          <a:p>
            <a:pPr>
              <a:defRPr sz="1200" b="1">
                <a:solidFill>
                  <a:srgbClr val="94A3B8"/>
                </a:solidFill>
              </a:defRPr>
            </a:pPr>
            <a:r>
              <a:t>World Bank Standards</a:t>
            </a:r>
          </a:p>
          <a:p>
            <a:br/>
            <a:pPr>
              <a:defRPr sz="1300">
                <a:solidFill>
                  <a:srgbClr val="FFFFFF"/>
                </a:solidFill>
              </a:defRPr>
            </a:pPr>
            <a:r>
              <a:t>Expertise in RFC 8785 canonical hashing and institutional open-contracting data models.</a:t>
            </a:r>
          </a:p>
        </p:txBody>
      </p:sp>
      <p:sp>
        <p:nvSpPr>
          <p:cNvPr id="8" name="Rounded Rectangle 7"/>
          <p:cNvSpPr/>
          <p:nvPr/>
        </p:nvSpPr>
        <p:spPr>
          <a:xfrm>
            <a:off x="7955279" y="1737360"/>
            <a:ext cx="3291840" cy="34747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59" y="1920240"/>
            <a:ext cx="2926080" cy="3108960"/>
          </a:xfrm>
          <a:prstGeom prst="rect">
            <a:avLst/>
          </a:prstGeom>
          <a:noFill/>
        </p:spPr>
        <p:txBody>
          <a:bodyPr wrap="square">
            <a:spAutoFit/>
          </a:bodyPr>
          <a:lstStyle/>
          <a:p>
            <a:pPr>
              <a:defRPr sz="1700" b="1">
                <a:solidFill>
                  <a:srgbClr val="10B981"/>
                </a:solidFill>
              </a:defRPr>
            </a:pPr>
            <a:r>
              <a:t>TradFi &amp; B2G Protocols</a:t>
            </a:r>
          </a:p>
          <a:p>
            <a:pPr>
              <a:defRPr sz="1200" b="1">
                <a:solidFill>
                  <a:srgbClr val="94A3B8"/>
                </a:solidFill>
              </a:defRPr>
            </a:pPr>
            <a:r>
              <a:t>Zero-Friction Enterprise</a:t>
            </a:r>
          </a:p>
          <a:p>
            <a:br/>
            <a:pPr>
              <a:defRPr sz="1300">
                <a:solidFill>
                  <a:srgbClr val="FFFFFF"/>
                </a:solidFill>
              </a:defRPr>
            </a:pPr>
            <a:r>
              <a:t>Architected zero-gas relayers and hybrid surety bond registries compliant with sovereign finance laws.</a:t>
            </a:r>
          </a:p>
        </p:txBody>
      </p:sp>
      <p:sp>
        <p:nvSpPr>
          <p:cNvPr id="10" name="Rounded Rectangle 9"/>
          <p:cNvSpPr/>
          <p:nvPr/>
        </p:nvSpPr>
        <p:spPr>
          <a:xfrm>
            <a:off x="914400" y="5440680"/>
            <a:ext cx="10360152" cy="1051560"/>
          </a:xfrm>
          <a:prstGeom prst="roundRect">
            <a:avLst/>
          </a:prstGeom>
          <a:solidFill>
            <a:srgbClr val="0C1C30"/>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9966960" cy="868680"/>
          </a:xfrm>
          <a:prstGeom prst="rect">
            <a:avLst/>
          </a:prstGeom>
          <a:noFill/>
        </p:spPr>
        <p:txBody>
          <a:bodyPr wrap="square">
            <a:spAutoFit/>
          </a:bodyPr>
          <a:lstStyle/>
          <a:p>
            <a:pPr>
              <a:defRPr sz="1300" b="1">
                <a:solidFill>
                  <a:srgbClr val="06B6D4"/>
                </a:solidFill>
              </a:defRPr>
            </a:pPr>
            <a:r>
              <a:t>COLOSSEUM CRYPTO WORLD'S FAIR 2026 SUBMISSION</a:t>
            </a:r>
          </a:p>
          <a:p>
            <a:pPr>
              <a:defRPr sz="1200">
                <a:solidFill>
                  <a:srgbClr val="FFFFFF"/>
                </a:solidFill>
              </a:defRPr>
            </a:pPr>
            <a:r>
              <a:t>Live Protocol: bidtrace.net  |  Program ID: x3iSm5BCoXvEfNwT6m6Vs7ApBJtKjvuTm7qKBJtESjZ  |  GitHub: Ujjwal1396/BidTrace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