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0:00 - 0:06 | 14 Words]</a:t>
            </a:r>
          </a:p>
          <a:p>
            <a:r>
              <a:t>"Good morning, I’m [Your Name]. This is BidTrace: Goodbye Bid Rigging."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0:06 - 0:28 | 48 Words]</a:t>
            </a:r>
          </a:p>
          <a:p>
            <a:r>
              <a:t>"Public procurement is a $13 Trillion market, but 25%—over $2.5 Trillion—is lost to corruption. As a lawyer who handled NPAs and bad loan recoveries at a commercial bank, I’ve seen this wreckage firsthand: backdated bids, leaked prices, and rigged tenders disguised as legitimate processes on centralized SQL databases."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0:28 - 1:00 | 72 Words]</a:t>
            </a:r>
          </a:p>
          <a:p>
            <a:r>
              <a:t>"BidTrace is the cryptographic Swiss Vault for public procurement. We replace database admin trust with mathematical certainty: Contractors encrypt bids in-browser with AES-256 dual envelopes—servers never see plaintext. Deadlines are locked to Solana’s Proof of History clock—late bids are rejected at the bytecode level. And proposals are scored blindly, discarding rogue outlier bribes. Best of all, our zero-fiat relayer requires zero crypto tokens, making BidTrace 100% legally compliant worldwide."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1:00 - 1:20 | 46 Words]</a:t>
            </a:r>
          </a:p>
          <a:p>
            <a:r>
              <a:t>"Our beachhead is the $120 Billion in multilateral projects funded by the World Bank and ADB. In its landmark report on disruptive procurement, the World Bank validated blockchain's anti-corruption power, but flagged privacy, gas costs, and token bans. BidTrace was purpose-built to solve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1:20 - 1:38 | 40 Words]</a:t>
            </a:r>
          </a:p>
          <a:p>
            <a:r>
              <a:t>"We charge an annual enterprise SaaS license from $50k to $250k, plus a 0.05% integrity fee funded directly through existing contractor submission fee budgets. When multilateral lenders mandate BidTrace on loan tranches, it cascades across 189 member countries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1:38 - 1:55 | 40 Words]</a:t>
            </a:r>
          </a:p>
          <a:p>
            <a:r>
              <a:t>"I built BidTrace because I sit at the exact intersection of law, banking forensics, and cryptography. I didn’t read about tender fraud in a textbook—I saw the defaults on my desk. The prototype is live. Join us. Goodbye Bid Rigging."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1:55 - 2:00 | 15 Words]</a:t>
            </a:r>
          </a:p>
          <a:p>
            <a:r>
              <a:t>"If you like our cause, visit us on bidtrace.net and join us on X.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1097280" y="1280160"/>
            <a:ext cx="1645920" cy="1857820"/>
          </a:xfrm>
          <a:prstGeom prst="rect">
            <a:avLst/>
          </a:prstGeom>
        </p:spPr>
      </p:pic>
      <p:sp>
        <p:nvSpPr>
          <p:cNvPr id="4" name="Rounded Rectangle 3"/>
          <p:cNvSpPr/>
          <p:nvPr/>
        </p:nvSpPr>
        <p:spPr>
          <a:xfrm>
            <a:off x="3017520" y="1325880"/>
            <a:ext cx="4389120" cy="384048"/>
          </a:xfrm>
          <a:prstGeom prst="roundRect">
            <a:avLst/>
          </a:prstGeom>
          <a:solidFill>
            <a:srgbClr val="10203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defRPr>
            </a:pPr>
            <a:r>
              <a:t>SOVEREIGN PUBLIC PROCUREMENT PROTOCOL</a:t>
            </a:r>
          </a:p>
        </p:txBody>
      </p:sp>
      <p:sp>
        <p:nvSpPr>
          <p:cNvPr id="5" name="TextBox 4"/>
          <p:cNvSpPr txBox="1"/>
          <p:nvPr/>
        </p:nvSpPr>
        <p:spPr>
          <a:xfrm>
            <a:off x="2926080" y="1783080"/>
            <a:ext cx="8229600" cy="1097280"/>
          </a:xfrm>
          <a:prstGeom prst="rect">
            <a:avLst/>
          </a:prstGeom>
          <a:noFill/>
        </p:spPr>
        <p:txBody>
          <a:bodyPr wrap="none">
            <a:spAutoFit/>
          </a:bodyPr>
          <a:lstStyle/>
          <a:p>
            <a:pPr>
              <a:defRPr sz="5600" b="1">
                <a:solidFill>
                  <a:srgbClr val="FFFFFF"/>
                </a:solidFill>
              </a:defRPr>
            </a:pPr>
            <a:r>
              <a:t>BidTrace</a:t>
            </a:r>
          </a:p>
        </p:txBody>
      </p:sp>
      <p:sp>
        <p:nvSpPr>
          <p:cNvPr id="6" name="TextBox 5"/>
          <p:cNvSpPr txBox="1"/>
          <p:nvPr/>
        </p:nvSpPr>
        <p:spPr>
          <a:xfrm>
            <a:off x="1097280" y="3108960"/>
            <a:ext cx="10058400" cy="1371600"/>
          </a:xfrm>
          <a:prstGeom prst="rect">
            <a:avLst/>
          </a:prstGeom>
          <a:noFill/>
        </p:spPr>
        <p:txBody>
          <a:bodyPr wrap="square">
            <a:spAutoFit/>
          </a:bodyPr>
          <a:lstStyle/>
          <a:p>
            <a:pPr>
              <a:defRPr sz="3800" b="1">
                <a:solidFill>
                  <a:srgbClr val="06B6D4"/>
                </a:solidFill>
              </a:defRPr>
            </a:pPr>
            <a:r>
              <a:t>Goodbye Bid Rigging.</a:t>
            </a:r>
          </a:p>
          <a:p>
            <a:pPr>
              <a:defRPr sz="1800">
                <a:solidFill>
                  <a:srgbClr val="94A3B8"/>
                </a:solidFill>
              </a:defRPr>
            </a:pPr>
            <a:r>
              <a:t>Cryptographic sealed bidding for public infrastructure contracts.</a:t>
            </a:r>
          </a:p>
        </p:txBody>
      </p:sp>
      <p:sp>
        <p:nvSpPr>
          <p:cNvPr id="7" name="Rounded Rectangle 6"/>
          <p:cNvSpPr/>
          <p:nvPr/>
        </p:nvSpPr>
        <p:spPr>
          <a:xfrm>
            <a:off x="1097280" y="4663440"/>
            <a:ext cx="3200400" cy="14630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4800600"/>
            <a:ext cx="2834640" cy="1188720"/>
          </a:xfrm>
          <a:prstGeom prst="rect">
            <a:avLst/>
          </a:prstGeom>
          <a:noFill/>
        </p:spPr>
        <p:txBody>
          <a:bodyPr wrap="none">
            <a:spAutoFit/>
          </a:bodyPr>
          <a:lstStyle/>
          <a:p>
            <a:pPr>
              <a:defRPr sz="2600" b="1">
                <a:solidFill>
                  <a:srgbClr val="06B6D4"/>
                </a:solidFill>
              </a:defRPr>
            </a:pPr>
            <a:r>
              <a:t>$13.0 Trillion</a:t>
            </a:r>
          </a:p>
          <a:p>
            <a:pPr>
              <a:defRPr sz="1200">
                <a:solidFill>
                  <a:srgbClr val="94A3B8"/>
                </a:solidFill>
              </a:defRPr>
            </a:pPr>
            <a:r>
              <a:t>Annual Sovereign Spend (15-20% GDP)</a:t>
            </a:r>
          </a:p>
        </p:txBody>
      </p:sp>
      <p:sp>
        <p:nvSpPr>
          <p:cNvPr id="9" name="Rounded Rectangle 8"/>
          <p:cNvSpPr/>
          <p:nvPr/>
        </p:nvSpPr>
        <p:spPr>
          <a:xfrm>
            <a:off x="4526280" y="4663440"/>
            <a:ext cx="3200400" cy="14630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4800600"/>
            <a:ext cx="2834640" cy="1188720"/>
          </a:xfrm>
          <a:prstGeom prst="rect">
            <a:avLst/>
          </a:prstGeom>
          <a:noFill/>
        </p:spPr>
        <p:txBody>
          <a:bodyPr wrap="none">
            <a:spAutoFit/>
          </a:bodyPr>
          <a:lstStyle/>
          <a:p>
            <a:pPr>
              <a:defRPr sz="2600" b="1">
                <a:solidFill>
                  <a:srgbClr val="A855F7"/>
                </a:solidFill>
              </a:defRPr>
            </a:pPr>
            <a:r>
              <a:t>400ms Clock</a:t>
            </a:r>
          </a:p>
          <a:p>
            <a:pPr>
              <a:defRPr sz="1200">
                <a:solidFill>
                  <a:srgbClr val="94A3B8"/>
                </a:solidFill>
              </a:defRPr>
            </a:pPr>
            <a:r>
              <a:t>Proof of History Precision Deadline Lock</a:t>
            </a:r>
          </a:p>
        </p:txBody>
      </p:sp>
      <p:sp>
        <p:nvSpPr>
          <p:cNvPr id="11" name="Rounded Rectangle 10"/>
          <p:cNvSpPr/>
          <p:nvPr/>
        </p:nvSpPr>
        <p:spPr>
          <a:xfrm>
            <a:off x="7955279" y="4663440"/>
            <a:ext cx="3200400" cy="14630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4800600"/>
            <a:ext cx="2834640" cy="1188720"/>
          </a:xfrm>
          <a:prstGeom prst="rect">
            <a:avLst/>
          </a:prstGeom>
          <a:noFill/>
        </p:spPr>
        <p:txBody>
          <a:bodyPr wrap="none">
            <a:spAutoFit/>
          </a:bodyPr>
          <a:lstStyle/>
          <a:p>
            <a:pPr>
              <a:defRPr sz="2600" b="1">
                <a:solidFill>
                  <a:srgbClr val="10B981"/>
                </a:solidFill>
              </a:defRPr>
            </a:pPr>
            <a:r>
              <a:t>Zero Crypto Gas</a:t>
            </a:r>
          </a:p>
          <a:p>
            <a:pPr>
              <a:defRPr sz="1200">
                <a:solidFill>
                  <a:srgbClr val="94A3B8"/>
                </a:solidFill>
              </a:defRPr>
            </a:pPr>
            <a:r>
              <a:t>100% Legally Compliant Worldwide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1005840"/>
          </a:xfrm>
          <a:prstGeom prst="rect">
            <a:avLst/>
          </a:prstGeom>
          <a:noFill/>
        </p:spPr>
        <p:txBody>
          <a:bodyPr wrap="none">
            <a:spAutoFit/>
          </a:bodyPr>
          <a:lstStyle/>
          <a:p>
            <a:pPr>
              <a:defRPr sz="1300" b="1">
                <a:solidFill>
                  <a:srgbClr val="F43F5E"/>
                </a:solidFill>
              </a:defRPr>
            </a:pPr>
            <a:r>
              <a:t>THE PROBLEM</a:t>
            </a:r>
          </a:p>
          <a:p>
            <a:pPr>
              <a:defRPr sz="3200" b="1">
                <a:solidFill>
                  <a:srgbClr val="FFFFFF"/>
                </a:solidFill>
              </a:defRPr>
            </a:pPr>
            <a:r>
              <a:t>The $2.5 Trillion Corruption Tax on Public Procurement</a:t>
            </a:r>
          </a:p>
        </p:txBody>
      </p:sp>
      <p:sp>
        <p:nvSpPr>
          <p:cNvPr id="4" name="Rounded Rectangle 3"/>
          <p:cNvSpPr/>
          <p:nvPr/>
        </p:nvSpPr>
        <p:spPr>
          <a:xfrm>
            <a:off x="914400" y="1691640"/>
            <a:ext cx="4937760" cy="4480560"/>
          </a:xfrm>
          <a:prstGeom prst="roundRect">
            <a:avLst/>
          </a:prstGeom>
          <a:solidFill>
            <a:srgbClr val="0C1326"/>
          </a:solidFill>
          <a:ln w="19050">
            <a:solidFill>
              <a:srgbClr val="5014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74519"/>
            <a:ext cx="4389120" cy="4023360"/>
          </a:xfrm>
          <a:prstGeom prst="rect">
            <a:avLst/>
          </a:prstGeom>
          <a:noFill/>
        </p:spPr>
        <p:txBody>
          <a:bodyPr wrap="square">
            <a:spAutoFit/>
          </a:bodyPr>
          <a:lstStyle/>
          <a:p>
            <a:pPr>
              <a:defRPr sz="3400" b="1">
                <a:solidFill>
                  <a:srgbClr val="F43F5E"/>
                </a:solidFill>
              </a:defRPr>
            </a:pPr>
            <a:r>
              <a:t>$2.5 Trillion Lost</a:t>
            </a:r>
          </a:p>
          <a:p>
            <a:pPr>
              <a:defRPr sz="1400" b="1">
                <a:solidFill>
                  <a:srgbClr val="FFFFFF"/>
                </a:solidFill>
              </a:defRPr>
            </a:pPr>
            <a:r>
              <a:t>20% to 25% of Global Public Infrastructure Spend</a:t>
            </a:r>
            <a:br/>
            <a:r>
              <a:t>(World Bank &amp; UN Estimates)</a:t>
            </a:r>
          </a:p>
          <a:p>
            <a:br/>
            <a:pPr>
              <a:defRPr sz="1300">
                <a:solidFill>
                  <a:srgbClr val="F59E0B"/>
                </a:solidFill>
              </a:defRPr>
            </a:pPr>
            <a:r>
              <a:t>⚖️ FORENSIC AUTHORITY:</a:t>
            </a:r>
            <a:br/>
            <a:r>
              <a:t>As a lawyer who worked on bad loan recoveries and NPAs at a commercial bank, I've seen this wreckage firsthand: defaulted contracts, fraudulent bank guarantees, and rigged tender processes.</a:t>
            </a:r>
          </a:p>
        </p:txBody>
      </p:sp>
      <p:sp>
        <p:nvSpPr>
          <p:cNvPr id="6" name="Rounded Rectangle 5"/>
          <p:cNvSpPr/>
          <p:nvPr/>
        </p:nvSpPr>
        <p:spPr>
          <a:xfrm>
            <a:off x="6217920" y="1691640"/>
            <a:ext cx="5029200" cy="4480560"/>
          </a:xfrm>
          <a:prstGeom prst="roundRect">
            <a:avLst/>
          </a:prstGeom>
          <a:solidFill>
            <a:srgbClr val="0C182C"/>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74519"/>
            <a:ext cx="4480560" cy="4023360"/>
          </a:xfrm>
          <a:prstGeom prst="rect">
            <a:avLst/>
          </a:prstGeom>
          <a:noFill/>
        </p:spPr>
        <p:txBody>
          <a:bodyPr wrap="square">
            <a:spAutoFit/>
          </a:bodyPr>
          <a:lstStyle/>
          <a:p>
            <a:pPr>
              <a:defRPr sz="2800" b="1">
                <a:solidFill>
                  <a:srgbClr val="06B6D4"/>
                </a:solidFill>
              </a:defRPr>
            </a:pPr>
            <a:r>
              <a:t>Centralized SQL Trust</a:t>
            </a:r>
          </a:p>
          <a:p>
            <a:pPr>
              <a:defRPr sz="1400" b="1">
                <a:solidFill>
                  <a:srgbClr val="FFFFFF"/>
                </a:solidFill>
              </a:defRPr>
            </a:pPr>
            <a:r>
              <a:t>Legacy Systems (SAP Ariba, Procore, Govt Portals)</a:t>
            </a:r>
          </a:p>
          <a:p>
            <a:br/>
            <a:pPr>
              <a:defRPr sz="1300">
                <a:solidFill>
                  <a:srgbClr val="94A3B8"/>
                </a:solidFill>
              </a:defRPr>
            </a:pPr>
            <a:r>
              <a:t>• Pre-Deadline Leaks: Admins peek at sealed prices before cutoff.</a:t>
            </a:r>
            <a:br/>
            <a:br/>
            <a:r>
              <a:t>• SQL Backdating: Late bids accepted with a simple UPDATE command:</a:t>
            </a:r>
            <a:br/>
            <a:r>
              <a:t>   UPDATE bids SET submitted_at = '14:49:00';</a:t>
            </a:r>
            <a:br/>
            <a:br/>
            <a:r>
              <a:t>• Exposed Trade Secrets: Losing bidders' proprietary unit prices leaked to competitors.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1005840"/>
          </a:xfrm>
          <a:prstGeom prst="rect">
            <a:avLst/>
          </a:prstGeom>
          <a:noFill/>
        </p:spPr>
        <p:txBody>
          <a:bodyPr wrap="none">
            <a:spAutoFit/>
          </a:bodyPr>
          <a:lstStyle/>
          <a:p>
            <a:pPr>
              <a:defRPr sz="1300" b="1">
                <a:solidFill>
                  <a:srgbClr val="06B6D4"/>
                </a:solidFill>
              </a:defRPr>
            </a:pPr>
            <a:r>
              <a:t>SOLUTION: BIDTRACE</a:t>
            </a:r>
          </a:p>
          <a:p>
            <a:pPr>
              <a:defRPr sz="3000" b="1">
                <a:solidFill>
                  <a:srgbClr val="FFFFFF"/>
                </a:solidFill>
              </a:defRPr>
            </a:pPr>
            <a:r>
              <a:t>“The Cryptographic Swiss Vault for Public Procurement”</a:t>
            </a:r>
          </a:p>
        </p:txBody>
      </p:sp>
      <p:sp>
        <p:nvSpPr>
          <p:cNvPr id="4" name="Rounded Rectangle 3"/>
          <p:cNvSpPr/>
          <p:nvPr/>
        </p:nvSpPr>
        <p:spPr>
          <a:xfrm>
            <a:off x="914400" y="1691640"/>
            <a:ext cx="10360152" cy="96012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83080"/>
            <a:ext cx="9966960" cy="777240"/>
          </a:xfrm>
          <a:prstGeom prst="rect">
            <a:avLst/>
          </a:prstGeom>
          <a:noFill/>
        </p:spPr>
        <p:txBody>
          <a:bodyPr wrap="square">
            <a:spAutoFit/>
          </a:bodyPr>
          <a:lstStyle/>
          <a:p>
            <a:pPr>
              <a:defRPr sz="1600" b="1">
                <a:solidFill>
                  <a:srgbClr val="06B6D4"/>
                </a:solidFill>
              </a:defRPr>
            </a:pPr>
            <a:r>
              <a:t>1. Pre-Deadline Leaks  ➔  Client-Side AES-256 Dual Envelopes</a:t>
            </a:r>
          </a:p>
          <a:p>
            <a:pPr>
              <a:defRPr sz="1200">
                <a:solidFill>
                  <a:srgbClr val="FFFFFF"/>
                </a:solidFill>
              </a:defRPr>
            </a:pPr>
            <a:r>
              <a:t>Encrypted in browser; zero plaintext on servers until official reveal.</a:t>
            </a:r>
          </a:p>
        </p:txBody>
      </p:sp>
      <p:sp>
        <p:nvSpPr>
          <p:cNvPr id="6" name="Rounded Rectangle 5"/>
          <p:cNvSpPr/>
          <p:nvPr/>
        </p:nvSpPr>
        <p:spPr>
          <a:xfrm>
            <a:off x="914400" y="2743200"/>
            <a:ext cx="10360152" cy="96012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34640"/>
            <a:ext cx="9966960" cy="777240"/>
          </a:xfrm>
          <a:prstGeom prst="rect">
            <a:avLst/>
          </a:prstGeom>
          <a:noFill/>
        </p:spPr>
        <p:txBody>
          <a:bodyPr wrap="square">
            <a:spAutoFit/>
          </a:bodyPr>
          <a:lstStyle/>
          <a:p>
            <a:pPr>
              <a:defRPr sz="1600" b="1">
                <a:solidFill>
                  <a:srgbClr val="A855F7"/>
                </a:solidFill>
              </a:defRPr>
            </a:pPr>
            <a:r>
              <a:t>2. Backdated Late Bids  ➔  Solana Proof of History Clock</a:t>
            </a:r>
          </a:p>
          <a:p>
            <a:pPr>
              <a:defRPr sz="1200">
                <a:solidFill>
                  <a:srgbClr val="FFFFFF"/>
                </a:solidFill>
              </a:defRPr>
            </a:pPr>
            <a:r>
              <a:t>Bytecode deadline lock; mathematically impossible to backdate (0x1773).</a:t>
            </a:r>
          </a:p>
        </p:txBody>
      </p:sp>
      <p:sp>
        <p:nvSpPr>
          <p:cNvPr id="8" name="Rounded Rectangle 7"/>
          <p:cNvSpPr/>
          <p:nvPr/>
        </p:nvSpPr>
        <p:spPr>
          <a:xfrm>
            <a:off x="914400" y="3794760"/>
            <a:ext cx="10360152" cy="96012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886200"/>
            <a:ext cx="9966960" cy="777240"/>
          </a:xfrm>
          <a:prstGeom prst="rect">
            <a:avLst/>
          </a:prstGeom>
          <a:noFill/>
        </p:spPr>
        <p:txBody>
          <a:bodyPr wrap="square">
            <a:spAutoFit/>
          </a:bodyPr>
          <a:lstStyle/>
          <a:p>
            <a:pPr>
              <a:defRPr sz="1600" b="1">
                <a:solidFill>
                  <a:srgbClr val="10B981"/>
                </a:solidFill>
              </a:defRPr>
            </a:pPr>
            <a:r>
              <a:t>3. Evaluator Bribery  ➔  Blinded Olympic Scoring</a:t>
            </a:r>
          </a:p>
          <a:p>
            <a:pPr>
              <a:defRPr sz="1200">
                <a:solidFill>
                  <a:srgbClr val="FFFFFF"/>
                </a:solidFill>
              </a:defRPr>
            </a:pPr>
            <a:r>
              <a:t>Anonymized review by vetted pool; automatically discards rogue score spikes.</a:t>
            </a:r>
          </a:p>
        </p:txBody>
      </p:sp>
      <p:sp>
        <p:nvSpPr>
          <p:cNvPr id="10" name="Rounded Rectangle 9"/>
          <p:cNvSpPr/>
          <p:nvPr/>
        </p:nvSpPr>
        <p:spPr>
          <a:xfrm>
            <a:off x="914400" y="4846320"/>
            <a:ext cx="10360152" cy="96012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37760"/>
            <a:ext cx="9966960" cy="777240"/>
          </a:xfrm>
          <a:prstGeom prst="rect">
            <a:avLst/>
          </a:prstGeom>
          <a:noFill/>
        </p:spPr>
        <p:txBody>
          <a:bodyPr wrap="square">
            <a:spAutoFit/>
          </a:bodyPr>
          <a:lstStyle/>
          <a:p>
            <a:pPr>
              <a:defRPr sz="1600" b="1">
                <a:solidFill>
                  <a:srgbClr val="F59E0B"/>
                </a:solidFill>
              </a:defRPr>
            </a:pPr>
            <a:r>
              <a:t>4. Trade Secret Theft  ➔  On-Chain Commercial Secrecy Lock</a:t>
            </a:r>
          </a:p>
          <a:p>
            <a:pPr>
              <a:defRPr sz="1200">
                <a:solidFill>
                  <a:srgbClr val="FFFFFF"/>
                </a:solidFill>
              </a:defRPr>
            </a:pPr>
            <a:r>
              <a:t>Disqualified bidders' financial bids remain cryptographically locked forever (0x1778).</a:t>
            </a:r>
          </a:p>
        </p:txBody>
      </p:sp>
      <p:sp>
        <p:nvSpPr>
          <p:cNvPr id="12" name="Rounded Rectangle 11"/>
          <p:cNvSpPr/>
          <p:nvPr/>
        </p:nvSpPr>
        <p:spPr>
          <a:xfrm>
            <a:off x="914400" y="5989320"/>
            <a:ext cx="10360152" cy="502920"/>
          </a:xfrm>
          <a:prstGeom prst="roundRect">
            <a:avLst/>
          </a:prstGeom>
          <a:solidFill>
            <a:srgbClr val="10203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6035040"/>
            <a:ext cx="9966960" cy="411480"/>
          </a:xfrm>
          <a:prstGeom prst="rect">
            <a:avLst/>
          </a:prstGeom>
          <a:noFill/>
        </p:spPr>
        <p:txBody>
          <a:bodyPr wrap="none">
            <a:spAutoFit/>
          </a:bodyPr>
          <a:lstStyle/>
          <a:p>
            <a:pPr>
              <a:defRPr sz="1200" b="1">
                <a:solidFill>
                  <a:srgbClr val="06B6D4"/>
                </a:solidFill>
              </a:defRPr>
            </a:pPr>
            <a:r>
              <a:t>⚡ Zero-Fiat Gas Relayer: Standard browser keys — zero tokens required ➔ 100% legally compliant worldwide.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1005840"/>
          </a:xfrm>
          <a:prstGeom prst="rect">
            <a:avLst/>
          </a:prstGeom>
          <a:noFill/>
        </p:spPr>
        <p:txBody>
          <a:bodyPr wrap="none">
            <a:spAutoFit/>
          </a:bodyPr>
          <a:lstStyle/>
          <a:p>
            <a:pPr>
              <a:defRPr sz="1300" b="1">
                <a:solidFill>
                  <a:srgbClr val="A855F7"/>
                </a:solidFill>
              </a:defRPr>
            </a:pPr>
            <a:r>
              <a:t>MARKET OPPORTUNITY &amp; INSTITUTIONAL VALIDATION</a:t>
            </a:r>
          </a:p>
          <a:p>
            <a:pPr>
              <a:defRPr sz="3200" b="1">
                <a:solidFill>
                  <a:srgbClr val="FFFFFF"/>
                </a:solidFill>
              </a:defRPr>
            </a:pPr>
            <a:r>
              <a:t>A $13 Trillion Market Demanding Cryptographic Truth</a:t>
            </a:r>
          </a:p>
        </p:txBody>
      </p:sp>
      <p:sp>
        <p:nvSpPr>
          <p:cNvPr id="4" name="Rounded Rectangle 3"/>
          <p:cNvSpPr/>
          <p:nvPr/>
        </p:nvSpPr>
        <p:spPr>
          <a:xfrm>
            <a:off x="914400" y="1691640"/>
            <a:ext cx="4937760" cy="448056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74519"/>
            <a:ext cx="4389120" cy="4023360"/>
          </a:xfrm>
          <a:prstGeom prst="rect">
            <a:avLst/>
          </a:prstGeom>
          <a:noFill/>
        </p:spPr>
        <p:txBody>
          <a:bodyPr wrap="square">
            <a:spAutoFit/>
          </a:bodyPr>
          <a:lstStyle/>
          <a:p>
            <a:pPr>
              <a:defRPr sz="2000" b="1">
                <a:solidFill>
                  <a:srgbClr val="06B6D4"/>
                </a:solidFill>
              </a:defRPr>
            </a:pPr>
            <a:r>
              <a:t>Market Sizing</a:t>
            </a:r>
          </a:p>
          <a:p>
            <a:br/>
            <a:pPr>
              <a:defRPr sz="1300">
                <a:solidFill>
                  <a:srgbClr val="FFFFFF"/>
                </a:solidFill>
              </a:defRPr>
            </a:pPr>
            <a:r>
              <a:t>• SOM: $120 Billion Beachhead</a:t>
            </a:r>
            <a:br/>
            <a:r>
              <a:t>  Multilateral Development Bank Projects (World Bank, ADB)</a:t>
            </a:r>
            <a:br/>
            <a:r>
              <a:t>  Mandated to enforce OCDS 1.1 anti-corruption transparency.</a:t>
            </a:r>
            <a:br/>
            <a:br/>
            <a:r>
              <a:t>• SAM: $2.5 Trillion</a:t>
            </a:r>
            <a:br/>
            <a:r>
              <a:t>  High-risk infrastructure tenders where bid rigging concentrates.</a:t>
            </a:r>
            <a:br/>
            <a:br/>
            <a:r>
              <a:t>• TAM: $13.0 Trillion</a:t>
            </a:r>
            <a:br/>
            <a:r>
              <a:t>  Total annual global public procurement (~15-20% World GDP).</a:t>
            </a:r>
          </a:p>
        </p:txBody>
      </p:sp>
      <p:sp>
        <p:nvSpPr>
          <p:cNvPr id="6" name="Rounded Rectangle 5"/>
          <p:cNvSpPr/>
          <p:nvPr/>
        </p:nvSpPr>
        <p:spPr>
          <a:xfrm>
            <a:off x="6217920" y="1691640"/>
            <a:ext cx="5029200" cy="4480560"/>
          </a:xfrm>
          <a:prstGeom prst="roundRect">
            <a:avLst/>
          </a:prstGeom>
          <a:solidFill>
            <a:srgbClr val="0C182C"/>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74519"/>
            <a:ext cx="4480560" cy="4023360"/>
          </a:xfrm>
          <a:prstGeom prst="rect">
            <a:avLst/>
          </a:prstGeom>
          <a:noFill/>
        </p:spPr>
        <p:txBody>
          <a:bodyPr wrap="square">
            <a:spAutoFit/>
          </a:bodyPr>
          <a:lstStyle/>
          <a:p>
            <a:pPr>
              <a:defRPr sz="2000" b="1">
                <a:solidFill>
                  <a:srgbClr val="06B6D4"/>
                </a:solidFill>
              </a:defRPr>
            </a:pPr>
            <a:r>
              <a:t>World Bank Landmark Report</a:t>
            </a:r>
          </a:p>
          <a:p>
            <a:pPr>
              <a:defRPr sz="1300" b="1">
                <a:solidFill>
                  <a:srgbClr val="FFFFFF"/>
                </a:solidFill>
              </a:defRPr>
            </a:pPr>
            <a:r>
              <a:t>"Disruptive Technologies in Public Procurement" (Jan 2021)</a:t>
            </a:r>
          </a:p>
          <a:p>
            <a:br/>
            <a:pPr>
              <a:defRPr sz="1200">
                <a:solidFill>
                  <a:srgbClr val="94A3B8"/>
                </a:solidFill>
              </a:defRPr>
            </a:pPr>
            <a:r>
              <a:t>Explicitly validated blockchain's anti-corruption power, but cited 3 key hurdles:</a:t>
            </a:r>
            <a:br/>
            <a:br/>
            <a:r>
              <a:t>1. Commercial Privacy Risk ➔ BidTrace AES-256 Dual Envelopes</a:t>
            </a:r>
            <a:br/>
            <a:r>
              <a:t>2. Gas Fee Volatility ➔ Solana $0.00025 sub-second txs</a:t>
            </a:r>
            <a:br/>
            <a:r>
              <a:t>3. Crypto Legal Restrictions ➔ Zero-Fiat Gas Relayer</a:t>
            </a:r>
            <a:br/>
            <a:br/>
            <a:r>
              <a:t>✓ BidTrace is purpose-built to answer the World Bank's roadmap.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1005840"/>
          </a:xfrm>
          <a:prstGeom prst="rect">
            <a:avLst/>
          </a:prstGeom>
          <a:noFill/>
        </p:spPr>
        <p:txBody>
          <a:bodyPr wrap="none">
            <a:spAutoFit/>
          </a:bodyPr>
          <a:lstStyle/>
          <a:p>
            <a:pPr>
              <a:defRPr sz="1300" b="1">
                <a:solidFill>
                  <a:srgbClr val="10B981"/>
                </a:solidFill>
              </a:defRPr>
            </a:pPr>
            <a:r>
              <a:t>BUSINESS MODEL &amp; MONETIZATION</a:t>
            </a:r>
          </a:p>
          <a:p>
            <a:pPr>
              <a:defRPr sz="3200" b="1">
                <a:solidFill>
                  <a:srgbClr val="FFFFFF"/>
                </a:solidFill>
              </a:defRPr>
            </a:pPr>
            <a:r>
              <a:t>High-Margin GovTech SaaS with 200x Anti-Corruption ROI</a:t>
            </a:r>
          </a:p>
        </p:txBody>
      </p:sp>
      <p:sp>
        <p:nvSpPr>
          <p:cNvPr id="4" name="Rounded Rectangle 3"/>
          <p:cNvSpPr/>
          <p:nvPr/>
        </p:nvSpPr>
        <p:spPr>
          <a:xfrm>
            <a:off x="914400" y="1691640"/>
            <a:ext cx="3291840" cy="338328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74519"/>
            <a:ext cx="2926080" cy="3017520"/>
          </a:xfrm>
          <a:prstGeom prst="rect">
            <a:avLst/>
          </a:prstGeom>
          <a:noFill/>
        </p:spPr>
        <p:txBody>
          <a:bodyPr wrap="square">
            <a:spAutoFit/>
          </a:bodyPr>
          <a:lstStyle/>
          <a:p>
            <a:pPr>
              <a:defRPr sz="1800" b="1">
                <a:solidFill>
                  <a:srgbClr val="06B6D4"/>
                </a:solidFill>
              </a:defRPr>
            </a:pPr>
            <a:r>
              <a:t>Enterprise GovTech SaaS</a:t>
            </a:r>
          </a:p>
          <a:p>
            <a:pPr>
              <a:defRPr sz="1300" b="1">
                <a:solidFill>
                  <a:srgbClr val="FFFFFF"/>
                </a:solidFill>
              </a:defRPr>
            </a:pPr>
            <a:r>
              <a:t>$50k – $250k / Year</a:t>
            </a:r>
          </a:p>
          <a:p>
            <a:br/>
            <a:pPr>
              <a:defRPr sz="1300">
                <a:solidFill>
                  <a:srgbClr val="94A3B8"/>
                </a:solidFill>
              </a:defRPr>
            </a:pPr>
            <a:r>
              <a:t>Annual license for ministries, public utilities &amp; large EPC developers. Turnkey e-GP integration.</a:t>
            </a:r>
          </a:p>
        </p:txBody>
      </p:sp>
      <p:sp>
        <p:nvSpPr>
          <p:cNvPr id="6" name="Rounded Rectangle 5"/>
          <p:cNvSpPr/>
          <p:nvPr/>
        </p:nvSpPr>
        <p:spPr>
          <a:xfrm>
            <a:off x="4434840" y="1691640"/>
            <a:ext cx="3291840" cy="338328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926080" cy="3017520"/>
          </a:xfrm>
          <a:prstGeom prst="rect">
            <a:avLst/>
          </a:prstGeom>
          <a:noFill/>
        </p:spPr>
        <p:txBody>
          <a:bodyPr wrap="square">
            <a:spAutoFit/>
          </a:bodyPr>
          <a:lstStyle/>
          <a:p>
            <a:pPr>
              <a:defRPr sz="1800" b="1">
                <a:solidFill>
                  <a:srgbClr val="A855F7"/>
                </a:solidFill>
              </a:defRPr>
            </a:pPr>
            <a:r>
              <a:t>Per-Tender Integrity Fee</a:t>
            </a:r>
          </a:p>
          <a:p>
            <a:pPr>
              <a:defRPr sz="1300" b="1">
                <a:solidFill>
                  <a:srgbClr val="FFFFFF"/>
                </a:solidFill>
              </a:defRPr>
            </a:pPr>
            <a:r>
              <a:t>0.05% of Tender Value</a:t>
            </a:r>
          </a:p>
          <a:p>
            <a:br/>
            <a:pPr>
              <a:defRPr sz="1300">
                <a:solidFill>
                  <a:srgbClr val="94A3B8"/>
                </a:solidFill>
              </a:defRPr>
            </a:pPr>
            <a:r>
              <a:t>Funded directly from existing contractor submission fees charged on every tender.</a:t>
            </a:r>
          </a:p>
        </p:txBody>
      </p:sp>
      <p:sp>
        <p:nvSpPr>
          <p:cNvPr id="8" name="Rounded Rectangle 7"/>
          <p:cNvSpPr/>
          <p:nvPr/>
        </p:nvSpPr>
        <p:spPr>
          <a:xfrm>
            <a:off x="7955279" y="1691640"/>
            <a:ext cx="3291840" cy="338328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9" y="1874519"/>
            <a:ext cx="2926080" cy="3017520"/>
          </a:xfrm>
          <a:prstGeom prst="rect">
            <a:avLst/>
          </a:prstGeom>
          <a:noFill/>
        </p:spPr>
        <p:txBody>
          <a:bodyPr wrap="square">
            <a:spAutoFit/>
          </a:bodyPr>
          <a:lstStyle/>
          <a:p>
            <a:pPr>
              <a:defRPr sz="1800" b="1">
                <a:solidFill>
                  <a:srgbClr val="10B981"/>
                </a:solidFill>
              </a:defRPr>
            </a:pPr>
            <a:r>
              <a:t>Institutional Cascade</a:t>
            </a:r>
          </a:p>
          <a:p>
            <a:pPr>
              <a:defRPr sz="1300" b="1">
                <a:solidFill>
                  <a:srgbClr val="FFFFFF"/>
                </a:solidFill>
              </a:defRPr>
            </a:pPr>
            <a:r>
              <a:t>189 Member Countries</a:t>
            </a:r>
          </a:p>
          <a:p>
            <a:br/>
            <a:pPr>
              <a:defRPr sz="1300">
                <a:solidFill>
                  <a:srgbClr val="94A3B8"/>
                </a:solidFill>
              </a:defRPr>
            </a:pPr>
            <a:r>
              <a:t>When World Bank or ADB mandates BidTrace on loan tranches, adoption cascades with zero CAC.</a:t>
            </a:r>
          </a:p>
        </p:txBody>
      </p:sp>
      <p:sp>
        <p:nvSpPr>
          <p:cNvPr id="10" name="Rounded Rectangle 9"/>
          <p:cNvSpPr/>
          <p:nvPr/>
        </p:nvSpPr>
        <p:spPr>
          <a:xfrm>
            <a:off x="914400" y="5303520"/>
            <a:ext cx="10360152" cy="1005840"/>
          </a:xfrm>
          <a:prstGeom prst="roundRect">
            <a:avLst/>
          </a:prstGeom>
          <a:solidFill>
            <a:srgbClr val="0C1C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40680"/>
            <a:ext cx="9966960" cy="731520"/>
          </a:xfrm>
          <a:prstGeom prst="rect">
            <a:avLst/>
          </a:prstGeom>
          <a:noFill/>
        </p:spPr>
        <p:txBody>
          <a:bodyPr wrap="square">
            <a:spAutoFit/>
          </a:bodyPr>
          <a:lstStyle/>
          <a:p>
            <a:pPr>
              <a:defRPr sz="1400" b="1">
                <a:solidFill>
                  <a:srgbClr val="10B981"/>
                </a:solidFill>
              </a:defRPr>
            </a:pPr>
            <a:r>
              <a:t>THE CUSTOMER MATH: 200x RETURN ON INVESTMENT</a:t>
            </a:r>
          </a:p>
          <a:p>
            <a:pPr>
              <a:defRPr sz="1300">
                <a:solidFill>
                  <a:srgbClr val="FFFFFF"/>
                </a:solidFill>
              </a:defRPr>
            </a:pPr>
            <a:r>
              <a:t>Eliminates a 20%–25% corruption loss for a &lt;0.1% platform cost. Fits directly into existing public budget 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1005840"/>
          </a:xfrm>
          <a:prstGeom prst="rect">
            <a:avLst/>
          </a:prstGeom>
          <a:noFill/>
        </p:spPr>
        <p:txBody>
          <a:bodyPr wrap="none">
            <a:spAutoFit/>
          </a:bodyPr>
          <a:lstStyle/>
          <a:p>
            <a:pPr>
              <a:defRPr sz="1300" b="1">
                <a:solidFill>
                  <a:srgbClr val="F59E0B"/>
                </a:solidFill>
              </a:defRPr>
            </a:pPr>
            <a:r>
              <a:t>TEAM / WHY ME?</a:t>
            </a:r>
          </a:p>
          <a:p>
            <a:pPr>
              <a:defRPr sz="3200" b="1">
                <a:solidFill>
                  <a:srgbClr val="FFFFFF"/>
                </a:solidFill>
              </a:defRPr>
            </a:pPr>
            <a:r>
              <a:t>Law + Banking NPA Forensics + Cryptography</a:t>
            </a:r>
          </a:p>
        </p:txBody>
      </p:sp>
      <p:sp>
        <p:nvSpPr>
          <p:cNvPr id="4" name="Rounded Rectangle 3"/>
          <p:cNvSpPr/>
          <p:nvPr/>
        </p:nvSpPr>
        <p:spPr>
          <a:xfrm>
            <a:off x="914400" y="1691640"/>
            <a:ext cx="3291840" cy="32918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74519"/>
            <a:ext cx="2926080" cy="2926080"/>
          </a:xfrm>
          <a:prstGeom prst="rect">
            <a:avLst/>
          </a:prstGeom>
          <a:noFill/>
        </p:spPr>
        <p:txBody>
          <a:bodyPr wrap="square">
            <a:spAutoFit/>
          </a:bodyPr>
          <a:lstStyle/>
          <a:p>
            <a:pPr>
              <a:defRPr sz="1800" b="1">
                <a:solidFill>
                  <a:srgbClr val="F59E0B"/>
                </a:solidFill>
              </a:defRPr>
            </a:pPr>
            <a:r>
              <a:t>Commercial Lawyer</a:t>
            </a:r>
          </a:p>
          <a:p>
            <a:pPr>
              <a:defRPr sz="1200" b="1">
                <a:solidFill>
                  <a:srgbClr val="94A3B8"/>
                </a:solidFill>
              </a:defRPr>
            </a:pPr>
            <a:r>
              <a:t>Legal &amp; Regulatory</a:t>
            </a:r>
          </a:p>
          <a:p>
            <a:br/>
            <a:pPr>
              <a:defRPr sz="1300">
                <a:solidFill>
                  <a:srgbClr val="FFFFFF"/>
                </a:solidFill>
              </a:defRPr>
            </a:pPr>
            <a:r>
              <a:t>Deep expertise in Public Procurement Acts, FIDIC contracts, and tender dispute arbitration.</a:t>
            </a:r>
          </a:p>
        </p:txBody>
      </p:sp>
      <p:sp>
        <p:nvSpPr>
          <p:cNvPr id="6" name="Rounded Rectangle 5"/>
          <p:cNvSpPr/>
          <p:nvPr/>
        </p:nvSpPr>
        <p:spPr>
          <a:xfrm>
            <a:off x="4434840" y="1691640"/>
            <a:ext cx="3291840" cy="32918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926080" cy="2926080"/>
          </a:xfrm>
          <a:prstGeom prst="rect">
            <a:avLst/>
          </a:prstGeom>
          <a:noFill/>
        </p:spPr>
        <p:txBody>
          <a:bodyPr wrap="square">
            <a:spAutoFit/>
          </a:bodyPr>
          <a:lstStyle/>
          <a:p>
            <a:pPr>
              <a:defRPr sz="1800" b="1">
                <a:solidFill>
                  <a:srgbClr val="06B6D4"/>
                </a:solidFill>
              </a:defRPr>
            </a:pPr>
            <a:r>
              <a:t>Commercial Bank NPA</a:t>
            </a:r>
          </a:p>
          <a:p>
            <a:pPr>
              <a:defRPr sz="1200" b="1">
                <a:solidFill>
                  <a:srgbClr val="94A3B8"/>
                </a:solidFill>
              </a:defRPr>
            </a:pPr>
            <a:r>
              <a:t>Forensic Recovery</a:t>
            </a:r>
          </a:p>
          <a:p>
            <a:br/>
            <a:pPr>
              <a:defRPr sz="1300">
                <a:solidFill>
                  <a:srgbClr val="FFFFFF"/>
                </a:solidFill>
              </a:defRPr>
            </a:pPr>
            <a:r>
              <a:t>Investigated bad loans, defaulted contractor bank guarantees (MT760), and fraudulent tenders up close.</a:t>
            </a:r>
          </a:p>
        </p:txBody>
      </p:sp>
      <p:sp>
        <p:nvSpPr>
          <p:cNvPr id="8" name="Rounded Rectangle 7"/>
          <p:cNvSpPr/>
          <p:nvPr/>
        </p:nvSpPr>
        <p:spPr>
          <a:xfrm>
            <a:off x="7955279" y="1691640"/>
            <a:ext cx="3291840" cy="3291840"/>
          </a:xfrm>
          <a:prstGeom prst="roundRect">
            <a:avLst/>
          </a:prstGeom>
          <a:solidFill>
            <a:srgbClr val="0C1326"/>
          </a:solidFill>
          <a:ln w="19050">
            <a:solidFill>
              <a:srgbClr val="1C2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9" y="1874519"/>
            <a:ext cx="2926080" cy="2926080"/>
          </a:xfrm>
          <a:prstGeom prst="rect">
            <a:avLst/>
          </a:prstGeom>
          <a:noFill/>
        </p:spPr>
        <p:txBody>
          <a:bodyPr wrap="square">
            <a:spAutoFit/>
          </a:bodyPr>
          <a:lstStyle/>
          <a:p>
            <a:pPr>
              <a:defRPr sz="1800" b="1">
                <a:solidFill>
                  <a:srgbClr val="A855F7"/>
                </a:solidFill>
              </a:defRPr>
            </a:pPr>
            <a:r>
              <a:t>Cryptographic Systems</a:t>
            </a:r>
          </a:p>
          <a:p>
            <a:pPr>
              <a:defRPr sz="1200" b="1">
                <a:solidFill>
                  <a:srgbClr val="94A3B8"/>
                </a:solidFill>
              </a:defRPr>
            </a:pPr>
            <a:r>
              <a:t>Engineering Architecture</a:t>
            </a:r>
          </a:p>
          <a:p>
            <a:br/>
            <a:pPr>
              <a:defRPr sz="1300">
                <a:solidFill>
                  <a:srgbClr val="FFFFFF"/>
                </a:solidFill>
              </a:defRPr>
            </a:pPr>
            <a:r>
              <a:t>Built the full-stack BidTrace protocol on Solana: Anchor smart contracts, OCDS 1.1, and gas relayer.</a:t>
            </a:r>
          </a:p>
        </p:txBody>
      </p:sp>
      <p:sp>
        <p:nvSpPr>
          <p:cNvPr id="10" name="Rounded Rectangle 9"/>
          <p:cNvSpPr/>
          <p:nvPr/>
        </p:nvSpPr>
        <p:spPr>
          <a:xfrm>
            <a:off x="914400" y="5212080"/>
            <a:ext cx="10360152" cy="1097280"/>
          </a:xfrm>
          <a:prstGeom prst="roundRect">
            <a:avLst/>
          </a:prstGeom>
          <a:solidFill>
            <a:srgbClr val="0C1C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349240"/>
            <a:ext cx="9966960" cy="822960"/>
          </a:xfrm>
          <a:prstGeom prst="rect">
            <a:avLst/>
          </a:prstGeom>
          <a:noFill/>
        </p:spPr>
        <p:txBody>
          <a:bodyPr wrap="square">
            <a:spAutoFit/>
          </a:bodyPr>
          <a:lstStyle/>
          <a:p>
            <a:pPr>
              <a:defRPr sz="1300" b="1">
                <a:solidFill>
                  <a:srgbClr val="06B6D4"/>
                </a:solidFill>
              </a:defRPr>
            </a:pPr>
            <a:r>
              <a:t>LIVE PROTOCOL EXECUTION STATUS</a:t>
            </a:r>
          </a:p>
          <a:p>
            <a:pPr>
              <a:defRPr sz="1300">
                <a:solidFill>
                  <a:srgbClr val="FFFFFF"/>
                </a:solidFill>
              </a:defRPr>
            </a:pPr>
            <a:r>
              <a:t>10 Anchor Instructions on Devnet  |  78/78 Passing Unit Tests  |  Live 1-Click Attack Simulator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solidFill>
              <a:srgbClr val="070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5303520" y="1097280"/>
            <a:ext cx="1554480" cy="1754608"/>
          </a:xfrm>
          <a:prstGeom prst="rect">
            <a:avLst/>
          </a:prstGeom>
        </p:spPr>
      </p:pic>
      <p:sp>
        <p:nvSpPr>
          <p:cNvPr id="4" name="TextBox 3"/>
          <p:cNvSpPr txBox="1"/>
          <p:nvPr/>
        </p:nvSpPr>
        <p:spPr>
          <a:xfrm>
            <a:off x="914400" y="2743200"/>
            <a:ext cx="10360152" cy="1280160"/>
          </a:xfrm>
          <a:prstGeom prst="rect">
            <a:avLst/>
          </a:prstGeom>
          <a:noFill/>
        </p:spPr>
        <p:txBody>
          <a:bodyPr wrap="square">
            <a:spAutoFit/>
          </a:bodyPr>
          <a:lstStyle/>
          <a:p>
            <a:pPr algn="ctr">
              <a:defRPr sz="5000" b="1">
                <a:solidFill>
                  <a:srgbClr val="FFFFFF"/>
                </a:solidFill>
              </a:defRPr>
            </a:pPr>
            <a:r>
              <a:t>BidTrace</a:t>
            </a:r>
          </a:p>
          <a:p>
            <a:pPr algn="ctr">
              <a:defRPr sz="2800" b="1">
                <a:solidFill>
                  <a:srgbClr val="06B6D4"/>
                </a:solidFill>
              </a:defRPr>
            </a:pPr>
            <a:r>
              <a:t>"Goodbye Bid Rigging."</a:t>
            </a:r>
          </a:p>
        </p:txBody>
      </p:sp>
      <p:sp>
        <p:nvSpPr>
          <p:cNvPr id="5" name="Rounded Rectangle 4"/>
          <p:cNvSpPr/>
          <p:nvPr/>
        </p:nvSpPr>
        <p:spPr>
          <a:xfrm>
            <a:off x="2011680" y="4297680"/>
            <a:ext cx="3840480" cy="1554480"/>
          </a:xfrm>
          <a:prstGeom prst="roundRect">
            <a:avLst/>
          </a:prstGeom>
          <a:solidFill>
            <a:srgbClr val="0C13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4480560"/>
            <a:ext cx="3474720" cy="1188720"/>
          </a:xfrm>
          <a:prstGeom prst="rect">
            <a:avLst/>
          </a:prstGeom>
          <a:noFill/>
        </p:spPr>
        <p:txBody>
          <a:bodyPr wrap="none">
            <a:spAutoFit/>
          </a:bodyPr>
          <a:lstStyle/>
          <a:p>
            <a:pPr>
              <a:defRPr sz="2400" b="1">
                <a:solidFill>
                  <a:srgbClr val="06B6D4"/>
                </a:solidFill>
              </a:defRPr>
            </a:pPr>
            <a:r>
              <a:t>🌐  bidtrace.net</a:t>
            </a:r>
          </a:p>
          <a:p>
            <a:pPr>
              <a:defRPr sz="1200">
                <a:solidFill>
                  <a:srgbClr val="94A3B8"/>
                </a:solidFill>
              </a:defRPr>
            </a:pPr>
            <a:r>
              <a:t>Live Interactive Protocol Portals &amp; Attack Demos</a:t>
            </a:r>
          </a:p>
        </p:txBody>
      </p:sp>
      <p:sp>
        <p:nvSpPr>
          <p:cNvPr id="7" name="Rounded Rectangle 6"/>
          <p:cNvSpPr/>
          <p:nvPr/>
        </p:nvSpPr>
        <p:spPr>
          <a:xfrm>
            <a:off x="6309360" y="4297680"/>
            <a:ext cx="3840480" cy="1554480"/>
          </a:xfrm>
          <a:prstGeom prst="roundRect">
            <a:avLst/>
          </a:prstGeom>
          <a:solidFill>
            <a:srgbClr val="0C13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4480560"/>
            <a:ext cx="3474720" cy="1188720"/>
          </a:xfrm>
          <a:prstGeom prst="rect">
            <a:avLst/>
          </a:prstGeom>
          <a:noFill/>
        </p:spPr>
        <p:txBody>
          <a:bodyPr wrap="none">
            <a:spAutoFit/>
          </a:bodyPr>
          <a:lstStyle/>
          <a:p>
            <a:pPr>
              <a:defRPr sz="2400" b="1">
                <a:solidFill>
                  <a:srgbClr val="A855F7"/>
                </a:solidFill>
              </a:defRPr>
            </a:pPr>
            <a:r>
              <a:t>𝕏   @bidtrace</a:t>
            </a:r>
          </a:p>
          <a:p>
            <a:pPr>
              <a:defRPr sz="1200">
                <a:solidFill>
                  <a:srgbClr val="94A3B8"/>
                </a:solidFill>
              </a:defRPr>
            </a:pPr>
            <a:r>
              <a:t>Follow Technical Releases &amp; Community Updates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