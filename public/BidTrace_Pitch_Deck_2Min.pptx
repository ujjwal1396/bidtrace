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 | 0:00 - 0:15 | 32 Words]</a:t>
            </a:r>
          </a:p>
          <a:p>
            <a:r>
              <a:t>"Judges, every year, $13 trillion is spent on public infrastructure. Yet the entire industry relies on centralized database trust. BidTrace brings tamper-proof sealed bidding to public contracts on Solana, making corruption mathematically impossible."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2 | 0:15 - 0:40 | 54 Words]</a:t>
            </a:r>
          </a:p>
          <a:p>
            <a:r>
              <a:t>"The fatal flaw in procurement isn't bad people—it's a physical window of time. Between the deadline and bid opening, database admins have god-mode. They peek at competitor pricing, alter scores, and backdate late bids into MySQL databases. BidTrace replaces administrative custody with Solana's consensus clock: if a slot expires, code blocks entry forever."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 | 0:40 - 1:05 | 55 Words]</a:t>
            </a:r>
          </a:p>
          <a:p>
            <a:r>
              <a:t>"To solve this without forcing governments to hold crypto, we built a two-plane architecture. Off-chain, we serialize tenders using the World Bank's OCDS 1.1 standard and RFC 8785 canonical hashing. On-chain, ten Solana Anchor instructions enforce temporal phase locks, blinded evaluator rubrics, and commercial secrecy—sponsored by a zero-fiat-gas relayer."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4 | 1:05 - 1:30 | 56 Words]</a:t>
            </a:r>
          </a:p>
          <a:p>
            <a:r>
              <a:t>"Here is the live lifecycle. Stage 1: Tenders are published with canonical hashes. Stage 2: Contractors seal dual envelopes. Stage 3: Evaluators grade blindly, and our on-chain trimmed mean automatically prunes rogue scores. Stage 4: Only qualified bids unseal price. In our attack simulator, late bids, price tampering, and data leaks get rejected on-chain."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 | 1:30 - 1:50 | 44 Words]</a:t>
            </a:r>
          </a:p>
          <a:p>
            <a:r>
              <a:t>"Why Solana? Two reasons: Proof of History and cost. Solana's 400-millisecond slot clock provides the sub-second temporal certainty required to legally freeze bids. And because transactions cost fractions of a cent, our relayer sponsors all gas, allowing governments to adopt Web3 guarantees without holding volatile crypto."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 | 1:50 - 2:00 | 25 Words]</a:t>
            </a:r>
          </a:p>
          <a:p>
            <a:r>
              <a:t>"BidTrace is fully functional today: live on Solana Devnet, backed by 78 passing unit tests and a live web app at bidtrace.net. Thank you!"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1463040" cy="165139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926080" y="1691640"/>
            <a:ext cx="3474720" cy="411480"/>
          </a:xfrm>
          <a:prstGeom prst="roundRect">
            <a:avLst/>
          </a:prstGeom>
          <a:solidFill>
            <a:srgbClr val="102037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COLOSSEUM CRYPTO WORLD'S FAIR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2148840"/>
            <a:ext cx="8412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BidTrace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B6D4"/>
                </a:solidFill>
              </a:defRPr>
            </a:pPr>
            <a:r>
              <a:t>Tamper-Proof Sealed Bidding for Public Contracts on Solana</a:t>
            </a:r>
          </a:p>
          <a:p>
            <a:pPr>
              <a:defRPr sz="1600">
                <a:solidFill>
                  <a:srgbClr val="94A3B8"/>
                </a:solidFill>
              </a:defRPr>
            </a:pPr>
            <a:r>
              <a:t>Eliminating the $13 Trillion Post-Deadline Insider Tampering Window via Solana Anchor PDA State Machines &amp; OCDS 1.1 Canonical Hashing.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5029200"/>
            <a:ext cx="3200400" cy="109728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E2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5074920"/>
            <a:ext cx="28346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6B6D4"/>
                </a:solidFill>
              </a:defRPr>
            </a:pPr>
            <a:r>
              <a:t>$13.0 Trillion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Protected Market (15-20% Global GDP)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5029200"/>
            <a:ext cx="3200400" cy="109728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E2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5074920"/>
            <a:ext cx="28346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A855F7"/>
                </a:solidFill>
              </a:defRPr>
            </a:pPr>
            <a:r>
              <a:t>400ms Sub-Second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Solana Consensus Clock Boundary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5029200"/>
            <a:ext cx="3200400" cy="109728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E2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59" y="5074920"/>
            <a:ext cx="28346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Zero Crypto Gas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Sponsored Relayer for Enterprise Contractors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43F5E"/>
                </a:solidFill>
              </a:defRPr>
            </a:pPr>
            <a:r>
              <a:t>THE $13 TRILLION CRITICAL FAILURE POINT</a:t>
            </a:r>
          </a:p>
          <a:p>
            <a:pPr>
              <a:defRPr sz="3200" b="1">
                <a:solidFill>
                  <a:srgbClr val="FFFFFF"/>
                </a:solidFill>
              </a:defRPr>
            </a:pPr>
            <a:r>
              <a:t>The Post-Deadline Insider Exploitation Window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4937760" cy="43891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E2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4389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43F5E"/>
                </a:solidFill>
              </a:defRPr>
            </a:pPr>
            <a:r>
              <a:t>Centralized Web2 Portals (SAP, Oracle, e-GP)</a:t>
            </a:r>
          </a:p>
          <a:p>
            <a:pPr>
              <a:defRPr b="1" sz="1300">
                <a:solidFill>
                  <a:srgbClr val="FFFFFF"/>
                </a:solidFill>
              </a:defRPr>
            </a:pPr>
            <a:r>
              <a:t>✖  The Insider Peek Window: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 Between submission closing and bid opening, centralized database administrators have total root access to view unencrypted competitor pricing.</a:t>
            </a:r>
          </a:p>
          <a:p>
            <a:pPr>
              <a:defRPr b="1" sz="1300">
                <a:solidFill>
                  <a:srgbClr val="FFFFFF"/>
                </a:solidFill>
              </a:defRPr>
            </a:pPr>
            <a:r>
              <a:t>✖  Retroactive Backdating: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 Corrupt officials insert favored contractors 5 minutes after the deadline by backdating server database timestamps.</a:t>
            </a:r>
          </a:p>
          <a:p>
            <a:pPr>
              <a:defRPr b="1" sz="1300">
                <a:solidFill>
                  <a:srgbClr val="FFFFFF"/>
                </a:solidFill>
              </a:defRPr>
            </a:pPr>
            <a:r>
              <a:t>✖  Subjective Grade Alterations: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 Evaluators quietly rewrite technical proposal scores behind closed doors to favor political cronies.</a:t>
            </a:r>
          </a:p>
          <a:p>
            <a:pPr>
              <a:defRPr b="1" sz="1300">
                <a:solidFill>
                  <a:srgbClr val="FFFFFF"/>
                </a:solidFill>
              </a:defRPr>
            </a:pPr>
            <a:r>
              <a:t>✖  The 'God-Mode' Excuse: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 When challenged, agencies point to their server logs: 'That is what our database recorded.' There is zero cryptographic proof.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029200" cy="4389120"/>
          </a:xfrm>
          <a:prstGeom prst="roundRect">
            <a:avLst/>
          </a:prstGeom>
          <a:solidFill>
            <a:srgbClr val="0C1C30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</a:defRPr>
            </a:pPr>
            <a:r>
              <a:t>The Cryptographic Reality Check</a:t>
            </a:r>
          </a:p>
          <a:p>
            <a:pPr>
              <a:defRPr b="1" sz="1300">
                <a:solidFill>
                  <a:srgbClr val="06B6D4"/>
                </a:solidFill>
              </a:defRPr>
            </a:pPr>
            <a:r>
              <a:t>✔  Immutable Clock Boundary: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 Solana Anchor PDA verifies Clock::get()?.slot &lt;= deadline_slot. Once slot 1050 passes, zero administrative keys can inject a bid.</a:t>
            </a:r>
          </a:p>
          <a:p>
            <a:pPr>
              <a:defRPr b="1" sz="1300">
                <a:solidFill>
                  <a:srgbClr val="06B6D4"/>
                </a:solidFill>
              </a:defRPr>
            </a:pPr>
            <a:r>
              <a:t>✔  Blind Dual Commitments: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 Envelope A (Technical) &amp; Envelope B (Financial) are hashed with preimages. Pricing remains strictly sealed until evaluation is finalized.</a:t>
            </a:r>
          </a:p>
          <a:p>
            <a:pPr>
              <a:defRPr b="1" sz="1300">
                <a:solidFill>
                  <a:srgbClr val="06B6D4"/>
                </a:solidFill>
              </a:defRPr>
            </a:pPr>
            <a:r>
              <a:t>✔  Olympic Trimmed Mean: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 On-chain algorithm discards extreme high/low evaluator grades and automatically flags rogue collusion on-chain.</a:t>
            </a:r>
          </a:p>
          <a:p>
            <a:pPr>
              <a:defRPr b="1" sz="1300">
                <a:solidFill>
                  <a:srgbClr val="06B6D4"/>
                </a:solidFill>
              </a:defRPr>
            </a:pPr>
            <a:r>
              <a:t>✔  Air-Gapped Tribunal Verifier: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 Anyone can audit the entire procurement lifecycle offline directly against raw Solana account proofs.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</a:defRPr>
            </a:pPr>
            <a:r>
              <a:t>PROTOCOL ARCHITECTURE</a:t>
            </a:r>
          </a:p>
          <a:p>
            <a:pPr>
              <a:defRPr sz="3200" b="1">
                <a:solidFill>
                  <a:srgbClr val="FFFFFF"/>
                </a:solidFill>
              </a:defRPr>
            </a:pPr>
            <a:r>
              <a:t>The Incorruptible Two-Plane State Machine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3291840" cy="457200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E2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1. SEMANTIC PLANE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Off-Chain Open Contracting</a:t>
            </a:r>
          </a:p>
          <a:p/>
          <a:p>
            <a:pPr>
              <a:defRPr sz="1200" b="1">
                <a:solidFill>
                  <a:srgbClr val="FFFFFF"/>
                </a:solidFill>
              </a:defRPr>
            </a:pPr>
            <a:r>
              <a:t>▪ OCDS 1.1 Compliant: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Canonical tender JSON data standard adopted by the World Bank and UN.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▪ RFC 8785 JCS Hashing: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Deterministic JSON Canonicalization Scheme produces identical cross-language SHA-256 anchors.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▪ TradFi Interoperability: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Existing government ERPs (SAP, Oracle) export standard OCDS notices directly.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645920"/>
            <a:ext cx="3291840" cy="457200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E2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855F7"/>
                </a:solidFill>
              </a:defRPr>
            </a:pPr>
            <a:r>
              <a:t>2. ENFORCEMENT PLANE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On-Chain Solana Anchor Engine</a:t>
            </a:r>
          </a:p>
          <a:p/>
          <a:p>
            <a:pPr>
              <a:defRPr sz="1200" b="1">
                <a:solidFill>
                  <a:srgbClr val="FFFFFF"/>
                </a:solidFill>
              </a:defRPr>
            </a:pPr>
            <a:r>
              <a:t>▪ PDA State Machine: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10 Rust instructions strictly gate phase transitions (Bidding -&gt; Technical -&gt; Financial -&gt; Award).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▪ Temporal Slot Hardening: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Slot boundaries are validated directly against Solana's Proof of History clock.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▪ Commercial Secrecy Lock: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Disqualified bidders (score &lt; 75%) are permanently prevented on-chain from unsealing financial prices.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645920"/>
            <a:ext cx="3291840" cy="457200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E2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3. GATEWAY PLANE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Zero-Fiat-Gas Enterprise Relayer</a:t>
            </a:r>
          </a:p>
          <a:p/>
          <a:p>
            <a:pPr>
              <a:defRPr sz="1200" b="1">
                <a:solidFill>
                  <a:srgbClr val="FFFFFF"/>
                </a:solidFill>
              </a:defRPr>
            </a:pPr>
            <a:r>
              <a:t>▪ Gas Decoupling: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Government agencies and contractors pay zero SOL. All network fees are sponsored by the backend relayer.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▪ Hybrid Bond Registry: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Supports native Solana Escrow, TradFi Surety policies, SWIFT MT760 guarantees, and World Bank BSDs.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▪ Offline Auditability: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Standalone Python &amp; Node.js verifier checks cryptographic proofs air-gapped.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HOW IT WORKS IN PRACTICE</a:t>
            </a:r>
          </a:p>
          <a:p>
            <a:pPr>
              <a:defRPr sz="3200" b="1">
                <a:solidFill>
                  <a:srgbClr val="FFFFFF"/>
                </a:solidFill>
              </a:defRPr>
            </a:pPr>
            <a:r>
              <a:t>The 4-Stage Incorruptible Lifecycle &amp; Adversarial Defense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2468880" cy="21031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E2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73736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STAGE 1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Tender Publication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Authority issues RFP with canonical OCDS hash and fixed deadline slot.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47872" y="1645920"/>
            <a:ext cx="2468880" cy="21031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E2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85032" y="173736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855F7"/>
                </a:solidFill>
              </a:defRPr>
            </a:pPr>
            <a:r>
              <a:t>STAGE 2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Dual Sealed Commit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Bidders commit Envelope A (specs) and Envelope B (pricing) independently.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468880" cy="21031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E2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504" y="173736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STAGE 3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Blinded Scoring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5 evaluators grade proposals; Olympic Trimmed Mean prunes rogue outliers.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14816" y="1645920"/>
            <a:ext cx="2468880" cy="21031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E2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51976" y="173736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STAGE 4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QCBS Final Award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Only qualified bids unseal Envelope B. Award computed deterministically.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977639"/>
            <a:ext cx="10360152" cy="233172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E2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69080"/>
            <a:ext cx="99669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43F5E"/>
                </a:solidFill>
              </a:defRPr>
            </a:pPr>
            <a:r>
              <a:t>TESTED ADVERSARIAL ATTACKS REJECTED ON SOLANA DEVNET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🛑 Attack 1: Late Bid Injection: Adversary injects bid at slot &gt; 1050. ➔ Anchor rejects: SubmissionDeadlineExceeded (0x1773).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🛑 Attack 2: Price Tampering: Insider alters quotation from $3.8M to $3.3M. ➔ Anchor rejects: InvalidRevealHash (0x1775).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🛑 Attack 3: Evaluator Collusion: Corrupt judge submits 98% outlier score. ➔ Olympic Trimmed Mean discards score &amp; flags judge.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🛑 Attack 4: Trade Secret Espionage: Buyer attempts to leak disqualified Bidder B's pricing. ➔ Anchor bars reveal: BidderTechnicallyDisqualified.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A855F7"/>
                </a:solidFill>
              </a:defRPr>
            </a:pPr>
            <a:r>
              <a:t>WHY SOLANA IS ESSENTIAL</a:t>
            </a:r>
          </a:p>
          <a:p>
            <a:pPr>
              <a:defRPr sz="3200" b="1">
                <a:solidFill>
                  <a:srgbClr val="FFFFFF"/>
                </a:solidFill>
              </a:defRPr>
            </a:pPr>
            <a:r>
              <a:t>The Consensus Clock &amp; Micro-Fee Advantage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3291840" cy="457200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E2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B6D4"/>
                </a:solidFill>
              </a:defRPr>
            </a:pPr>
            <a:r>
              <a:t>400ms Proof of History Clock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Strict Temporal Enforcement</a:t>
            </a:r>
          </a:p>
          <a:p/>
          <a:p>
            <a:pPr>
              <a:defRPr sz="1100">
                <a:solidFill>
                  <a:srgbClr val="FFFFFF"/>
                </a:solidFill>
              </a:defRPr>
            </a:pPr>
            <a:r>
              <a:t>▪ Traditional blockchains have 12-second block jitter.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▪ Solana's 400ms slot finality provides sub-second proof of exact submission cutoff times.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▪ Historical slots cannot be retroactively modified by validators or admins.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645920"/>
            <a:ext cx="3291840" cy="457200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E2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A855F7"/>
                </a:solidFill>
              </a:defRPr>
            </a:pPr>
            <a:r>
              <a:t>Sub-Cent High Frequency Fees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Granular Multi-Envelope Commitments</a:t>
            </a:r>
          </a:p>
          <a:p/>
          <a:p>
            <a:pPr>
              <a:defRPr sz="1100">
                <a:solidFill>
                  <a:srgbClr val="FFFFFF"/>
                </a:solidFill>
              </a:defRPr>
            </a:pPr>
            <a:r>
              <a:t>▪ Tenders generate dozens of granular state updates: envelope commits, 5 evaluator scores, unseals.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▪ EVM gas costs ($10-$50) make multi-round commits economically unviable.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▪ Solana executes the full 5-stage lifecycle for &lt; $0.01 total network gas.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645920"/>
            <a:ext cx="3291840" cy="457200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E2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TradFi Decoupling Gateway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Institutional Adoption Today</a:t>
            </a:r>
          </a:p>
          <a:p/>
          <a:p>
            <a:pPr>
              <a:defRPr sz="1100">
                <a:solidFill>
                  <a:srgbClr val="FFFFFF"/>
                </a:solidFill>
              </a:defRPr>
            </a:pPr>
            <a:r>
              <a:t>▪ Zero crypto balance required for corporate treasuries.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▪ Multi-jurisdiction bond engine: Surety MGA policies, SWIFT MT760 bank guarantees, World Bank BSDs.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▪ Full compatibility with existing e-GP legal frameworks (FIDIC &amp; World Bank).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</a:defRPr>
            </a:pPr>
            <a:r>
              <a:t>WHAT WE BUILT &amp; TRACTION</a:t>
            </a:r>
          </a:p>
          <a:p>
            <a:pPr>
              <a:defRPr sz="3200" b="1">
                <a:solidFill>
                  <a:srgbClr val="FFFFFF"/>
                </a:solidFill>
              </a:defRPr>
            </a:pPr>
            <a:r>
              <a:t>Shipped, Tested, and Verified on Solana Devnet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2468880" cy="219456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E2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73736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Anchor Devnet Deployed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Live Program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x3iSm5BCoXvEfNwT6m6Vs7ApBJtKjvuTm7qKBJtESjZ on Devnet cluster.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47872" y="1645920"/>
            <a:ext cx="2468880" cy="219456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E2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85032" y="173736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78 Passing Unit Tests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100% Cryptographic Parity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Full Python and Node.js cross-language RFC 8785 hash parity verified.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468880" cy="219456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E2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504" y="173736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855F7"/>
                </a:solidFill>
              </a:defRPr>
            </a:pPr>
            <a:r>
              <a:t>Live Web Dashboard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bidtrace.net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Full interactive 5-step storyboard HUD, 7 portals, and attack simulator.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14816" y="1645920"/>
            <a:ext cx="2468880" cy="2194560"/>
          </a:xfrm>
          <a:prstGeom prst="roundRect">
            <a:avLst/>
          </a:prstGeom>
          <a:solidFill>
            <a:srgbClr val="12192D"/>
          </a:solidFill>
          <a:ln w="19050">
            <a:solidFill>
              <a:srgbClr val="1E2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51976" y="173736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Air-Gapped Verifier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Independent Tribunal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Complete Python dossier verifier for offline legal audits.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114800"/>
            <a:ext cx="10360152" cy="2103120"/>
          </a:xfrm>
          <a:prstGeom prst="roundRect">
            <a:avLst/>
          </a:prstGeom>
          <a:solidFill>
            <a:srgbClr val="0C1C30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297680"/>
            <a:ext cx="9784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THE VISION: THE TRUSTED SETTLEMENT LAYER FOR GLOBAL CAPITAL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Public procurement is 15% of global GDP. By establishing mathematical finality over bid intake, evaluator scoring, and award execution, BidTrace is building the incorruptible cryptographic operating system for sovereign infrastructure.</a:t>
            </a:r>
          </a:p>
          <a:p>
            <a:pPr>
              <a:defRPr sz="1200" b="1">
                <a:solidFill>
                  <a:srgbClr val="06B6D4"/>
                </a:solidFill>
              </a:defRPr>
            </a:pPr>
            <a:r>
              <a:t>Explore the live dashboard at bidtrace.net | GitHub: github.com/Ujjwal1396/BidTrace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