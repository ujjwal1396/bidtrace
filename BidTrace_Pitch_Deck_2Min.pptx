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 | 0:00 - 0:15 | 32 Words]</a:t>
            </a:r>
          </a:p>
          <a:p>
            <a:r>
              <a:t>"Judges, every year, $13 trillion is spent on public infrastructure. Yet the entire industry relies on centralized database trust. BidTrace brings tamper-proof sealed bidding to public contracts on Solana, making corruption mathematically impossible."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 | 0:15 - 0:40 | 54 Words]</a:t>
            </a:r>
          </a:p>
          <a:p>
            <a:r>
              <a:t>"The fatal flaw in procurement isn't bad people—it's a physical window of time. Between the deadline and bid opening, database admins have god-mode. They peek at competitor pricing, alter scores, and backdate late bids into MySQL databases. BidTrace replaces administrative custody with Solana's consensus clock: if a slot expires, code blocks entry forever."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 | 0:40 - 1:05 | 55 Words]</a:t>
            </a:r>
          </a:p>
          <a:p>
            <a:r>
              <a:t>"To solve this without forcing governments to hold crypto, we built a two-plane architecture. Off-chain, we serialize tenders using the World Bank's OCDS 1.1 standard and RFC 8785 canonical hashing. On-chain, ten Solana Anchor instructions enforce temporal phase locks, blinded evaluator rubrics, and commercial secrecy—sponsored by a zero-fiat-gas relayer."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4 | 1:05 - 1:30 | 56 Words]</a:t>
            </a:r>
          </a:p>
          <a:p>
            <a:r>
              <a:t>"Here is the live lifecycle. Stage 1: Tenders are published with canonical hashes. Stage 2: Contractors seal dual envelopes. Stage 3: Evaluators grade blindly, and our on-chain trimmed mean automatically prunes rogue scores. Stage 4: Only qualified bids unseal price. In our attack simulator, late bids, price tampering, and data leaks get rejected on-chain."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5 | 1:30 - 1:50 | 44 Words]</a:t>
            </a:r>
          </a:p>
          <a:p>
            <a:r>
              <a:t>"Why Solana? Two reasons: Proof of History and cost. Solana's 400-millisecond slot clock provides the sub-second temporal certainty required to legally freeze bids. And because transactions cost fractions of a cent, our relayer sponsors all gas, allowing governments to adopt Web3 guarantees without holding volatile crypto."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6 | 1:50 - 2:00 | 25 Words]</a:t>
            </a:r>
          </a:p>
          <a:p>
            <a:r>
              <a:t>"BidTrace is fully functional today: live on Solana Devnet, backed by 78 passing unit tests and a live web app at bidtrace.net. Thank you!"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1645920" cy="18578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017520" y="1508760"/>
            <a:ext cx="3474720" cy="411480"/>
          </a:xfrm>
          <a:prstGeom prst="roundRect">
            <a:avLst/>
          </a:prstGeom>
          <a:solidFill>
            <a:srgbClr val="10203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COLOSSEUM CRYPTO WORLD'S FAIR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9659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BidTrace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Tamper-Proof Sealed Bidding for Public Contracts on Solana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846320"/>
            <a:ext cx="3200400" cy="128016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E2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2834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6B6D4"/>
                </a:solidFill>
              </a:defRPr>
            </a:pPr>
            <a:r>
              <a:t>$13.0 Trillion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Protected Market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4846320"/>
            <a:ext cx="3200400" cy="128016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E2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4937760"/>
            <a:ext cx="2834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A855F7"/>
                </a:solidFill>
              </a:defRPr>
            </a:pPr>
            <a:r>
              <a:t>400ms Clock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Proof of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4846320"/>
            <a:ext cx="3200400" cy="128016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E2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4937760"/>
            <a:ext cx="2834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B981"/>
                </a:solidFill>
              </a:defRPr>
            </a:pPr>
            <a:r>
              <a:t>Zero Crypto Gas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Enterprise Sponsored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3F5E"/>
                </a:solidFill>
              </a:defRPr>
            </a:pPr>
            <a:r>
              <a:t>THE $13 TRILLION VULNERABILITY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The Post-Deadline Insider Tampering Window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493776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50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43F5E"/>
                </a:solidFill>
              </a:defRPr>
            </a:pPr>
            <a:r>
              <a:t>✖  Centralized E-Procurement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Root Admin God-Mode (Unencrypted bid peek)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Retroactive Backdating (MySQL timestamp rewrites)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Score Collusion (Quiet score inflation behind closed doors)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Zero Mathematical Proof ('That is what our database recorded')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029200" cy="4389120"/>
          </a:xfrm>
          <a:prstGeom prst="roundRect">
            <a:avLst/>
          </a:prstGeom>
          <a:solidFill>
            <a:srgbClr val="0C1C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B6D4"/>
                </a:solidFill>
              </a:defRPr>
            </a:pPr>
            <a:r>
              <a:t>✔  BidTrace on Solana Anchor</a:t>
            </a:r>
          </a:p>
          <a:p>
            <a:pPr>
              <a:defRPr sz="1400">
                <a:solidFill>
                  <a:srgbClr val="06B6D4"/>
                </a:solidFill>
              </a:defRPr>
            </a:pPr>
            <a:r>
              <a:t>• Consensus Clock Boundary (Slot &gt; deadline = REJECTED)</a:t>
            </a:r>
          </a:p>
          <a:p>
            <a:pPr>
              <a:defRPr sz="1400">
                <a:solidFill>
                  <a:srgbClr val="06B6D4"/>
                </a:solidFill>
              </a:defRPr>
            </a:pPr>
            <a:r>
              <a:t>• Dual-Envelope Sealing (Zero pre-deadline price leakage)</a:t>
            </a:r>
          </a:p>
          <a:p>
            <a:pPr>
              <a:defRPr sz="1400">
                <a:solidFill>
                  <a:srgbClr val="06B6D4"/>
                </a:solidFill>
              </a:defRPr>
            </a:pPr>
            <a:r>
              <a:t>• Olympic Trimmed Mean (On-chain rogue score auto-pruning)</a:t>
            </a:r>
          </a:p>
          <a:p>
            <a:pPr>
              <a:defRPr sz="1400">
                <a:solidFill>
                  <a:srgbClr val="06B6D4"/>
                </a:solidFill>
              </a:defRPr>
            </a:pPr>
            <a:r>
              <a:t>• Air-Gapped Tribunal Verifier (100% offline mathematical proof)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PROTOCOL ARCHITECTURE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Two-Plane Decoupled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32918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E2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1. SEMANTIC PLANE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Off-Chain Standard</a:t>
            </a:r>
          </a:p>
          <a:p/>
          <a:p>
            <a:pPr>
              <a:defRPr sz="1300">
                <a:solidFill>
                  <a:srgbClr val="FFFFFF"/>
                </a:solidFill>
              </a:defRPr>
            </a:pPr>
            <a:r>
              <a:t>▪ OCDS 1.1 Compliance (World Bank / UN Standard)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▪ RFC 8785 (JCS) Deterministic Hashing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▪ 100% Cross-Language Hash Parity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▪ Direct ERP Ingestion (SAP &amp; Oracle)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737360"/>
            <a:ext cx="32918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E2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2. ENFORCEMENT PLANE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Solana Anchor Engine</a:t>
            </a:r>
          </a:p>
          <a:p/>
          <a:p>
            <a:pPr>
              <a:defRPr sz="1300">
                <a:solidFill>
                  <a:srgbClr val="FFFFFF"/>
                </a:solidFill>
              </a:defRPr>
            </a:pPr>
            <a:r>
              <a:t>▪ 10 Anchor Rust Instructions Deployed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▪ Temporal Slot Clock Hardening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▪ Dual-Envelope PDA State Machine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▪ Commercial Secrecy Invariant (Locked Forever)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2918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E2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3. GATEWAY PLANE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Zero-Fiat-Gas Relayer</a:t>
            </a:r>
          </a:p>
          <a:p/>
          <a:p>
            <a:pPr>
              <a:defRPr sz="1300">
                <a:solidFill>
                  <a:srgbClr val="FFFFFF"/>
                </a:solidFill>
              </a:defRPr>
            </a:pPr>
            <a:r>
              <a:t>▪ Zero Crypto Gas for Contractors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▪ 4 Hybrid Bond Registry Modes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▪ SWIFT MT760 &amp; TradFi Surety Integration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▪ Air-Gapped Tribunal Dossier Verifier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END-TO-END CRYPTOGRAPHIC PIPELINE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The 4-Stage Lifecycle &amp; Tested Adversarial Defenses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2468880" cy="182880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E2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STAGE 1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Tender Issued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Canonical OCDS Notice + Slot Cutoff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7872" y="1737360"/>
            <a:ext cx="2468880" cy="182880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E2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5032" y="18288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STAGE 2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Dual-Envelopes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Blinded Technical &amp; Financial Bids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737360"/>
            <a:ext cx="2468880" cy="182880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E2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8288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STAGE 3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Blinded Scoring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Olympic Trimmed Mean Outlier Pruning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14816" y="1737360"/>
            <a:ext cx="2468880" cy="182880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E2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18288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STAGE 4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QCBS Award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Qualified Unseal &amp; Deterministic Winner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794760"/>
            <a:ext cx="10360152" cy="251460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E2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86200"/>
            <a:ext cx="9966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</a:defRPr>
            </a:pPr>
            <a:r>
              <a:t>TESTED ADVERSARIAL ATTACKS REJECTED ON SOLANA DEVNET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🛑  Late Bidder Injected  ➔  Anchor Error: SubmissionDeadlineExceeded (0x1773)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🛑  Price Tampering (-$500k)  ➔  Anchor Error: InvalidRevealHash (0x1775)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🛑  Rogue Judge 98% Score  ➔  On-Chain Filter: OlympicTrimmedMeanPruned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🛑  Trade Secret Leak  ➔  Anchor Error: CommercialSecrecyLock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THE SOLANA ADVANTAGE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Why Solana is Structurally Required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32918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E2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400ms Proof of History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Temporal Finality</a:t>
            </a:r>
          </a:p>
          <a:p/>
          <a:p>
            <a:pPr>
              <a:defRPr sz="1300">
                <a:solidFill>
                  <a:srgbClr val="FFFFFF"/>
                </a:solidFill>
              </a:defRPr>
            </a:pPr>
            <a:r>
              <a:t>▪ Sub-second statutory cutoff precision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▪ Zero retroactive block jitter or timestamp edits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▪ Mathematical guarantee over historical slots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737360"/>
            <a:ext cx="32918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E2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</a:defRPr>
            </a:pPr>
            <a:r>
              <a:t>Micro-Cent Network Fees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Granular State Updates</a:t>
            </a:r>
          </a:p>
          <a:p/>
          <a:p>
            <a:pPr>
              <a:defRPr sz="1300">
                <a:solidFill>
                  <a:srgbClr val="FFFFFF"/>
                </a:solidFill>
              </a:defRPr>
            </a:pPr>
            <a:r>
              <a:t>▪ 5-stage multi-envelope state transitions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▪ 5 evaluator score commits per tender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▪ &lt; $0.01 total gas per entire tender lifecycle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2918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E2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192024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Zero-Gas Gateway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Frictionless TradFi Adoption</a:t>
            </a:r>
          </a:p>
          <a:p/>
          <a:p>
            <a:pPr>
              <a:defRPr sz="1300">
                <a:solidFill>
                  <a:srgbClr val="FFFFFF"/>
                </a:solidFill>
              </a:defRPr>
            </a:pPr>
            <a:r>
              <a:t>▪ Zero crypto balance required for contractors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▪ Sponsored relayer pays all network gas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▪ 100% compliant with sovereign treasury laws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VERIFIED EXECUTION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Shipped, Tested, and Verified on Solana Devnet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2468880" cy="192024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E2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10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Anchor Instructions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Deployed on Devnet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7872" y="1737360"/>
            <a:ext cx="2468880" cy="192024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E2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5032" y="18288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</a:defRPr>
            </a:pPr>
            <a:r>
              <a:t>78 / 78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Passing Unit Tests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100% Hash Parity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737360"/>
            <a:ext cx="2468880" cy="192024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E2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8288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A855F7"/>
                </a:solidFill>
              </a:defRPr>
            </a:pPr>
            <a:r>
              <a:t>5 / 5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Storyboard Steps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1-Click Interactive HUD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14816" y="1737360"/>
            <a:ext cx="2468880" cy="192024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E2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18288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9E0B"/>
                </a:solidFill>
              </a:defRPr>
            </a:pPr>
            <a:r>
              <a:t>4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Hybrid Bond Modes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TradFi + Crypto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77639"/>
            <a:ext cx="10360152" cy="2240280"/>
          </a:xfrm>
          <a:prstGeom prst="roundRect">
            <a:avLst/>
          </a:prstGeom>
          <a:solidFill>
            <a:srgbClr val="0C1C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160520"/>
            <a:ext cx="9784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</a:defRPr>
            </a:pPr>
            <a:r>
              <a:t>THE SETTLEMENT LAYER FOR SOVEREIGN CAPITAL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Live Interactive Web App: bidtrace.net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Program ID: x3iSm5BCoXvEfNwT6m6Vs7ApBJtKjvuTm7qKBJtESjZ  |  GitHub: Ujjwal1396/BidTrace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